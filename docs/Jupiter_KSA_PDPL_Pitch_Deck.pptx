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0C1530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1050A8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C89B3C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" y="0"/>
            <a:ext cx="64008" cy="5143500"/>
          </a:xfrm>
          <a:prstGeom prst="rect">
            <a:avLst/>
          </a:prstGeom>
          <a:solidFill>
            <a:srgbClr val="1A6ED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731520"/>
            <a:ext cx="2103120" cy="21031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256032"/>
            <a:ext cx="2743200" cy="310896"/>
          </a:xfrm>
          <a:prstGeom prst="rect">
            <a:avLst/>
          </a:prstGeom>
          <a:solidFill>
            <a:srgbClr val="141E30"/>
          </a:solidFill>
          <a:ln/>
        </p:spPr>
      </p:sp>
      <p:sp>
        <p:nvSpPr>
          <p:cNvPr id="9" name="Shape 6"/>
          <p:cNvSpPr/>
          <p:nvPr/>
        </p:nvSpPr>
        <p:spPr>
          <a:xfrm>
            <a:off x="274320" y="256032"/>
            <a:ext cx="36576" cy="310896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10" name="Text 7"/>
          <p:cNvSpPr/>
          <p:nvPr/>
        </p:nvSpPr>
        <p:spPr>
          <a:xfrm>
            <a:off x="384048" y="256032"/>
            <a:ext cx="2615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 CYBER DEFENCE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74320" y="65836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Security Confidence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74320" y="987552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نظام حماية البيانات الشخصية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74320" y="1463040"/>
            <a:ext cx="54864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KSA PDPL Compliance</a:t>
            </a:r>
            <a:endParaRPr lang="en-US" sz="3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274320" y="2670048"/>
            <a:ext cx="5394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Arabia's PDPL is actively enforced by SDAIA.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 reach SAR 5,000,000. Is your business protected?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74320" y="3438144"/>
            <a:ext cx="1719072" cy="402336"/>
          </a:xfrm>
          <a:prstGeom prst="rect">
            <a:avLst/>
          </a:prstGeom>
          <a:solidFill>
            <a:srgbClr val="B82030">
              <a:alpha val="78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274320" y="3438144"/>
            <a:ext cx="1719072" cy="36576"/>
          </a:xfrm>
          <a:prstGeom prst="rect">
            <a:avLst/>
          </a:prstGeom>
          <a:solidFill>
            <a:srgbClr val="B82030"/>
          </a:solidFill>
          <a:ln/>
        </p:spPr>
      </p:sp>
      <p:sp>
        <p:nvSpPr>
          <p:cNvPr id="17" name="Text 14"/>
          <p:cNvSpPr/>
          <p:nvPr/>
        </p:nvSpPr>
        <p:spPr>
          <a:xfrm>
            <a:off x="274320" y="347472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5M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121408" y="3438144"/>
            <a:ext cx="1719072" cy="402336"/>
          </a:xfrm>
          <a:prstGeom prst="rect">
            <a:avLst/>
          </a:prstGeom>
          <a:solidFill>
            <a:srgbClr val="C89B3C">
              <a:alpha val="78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2121408" y="3438144"/>
            <a:ext cx="1719072" cy="36576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20" name="Text 17"/>
          <p:cNvSpPr/>
          <p:nvPr/>
        </p:nvSpPr>
        <p:spPr>
          <a:xfrm>
            <a:off x="2121408" y="347472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Hours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968496" y="3438144"/>
            <a:ext cx="1719072" cy="402336"/>
          </a:xfrm>
          <a:prstGeom prst="rect">
            <a:avLst/>
          </a:prstGeom>
          <a:solidFill>
            <a:srgbClr val="1A6ED8">
              <a:alpha val="7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3968496" y="3438144"/>
            <a:ext cx="1719072" cy="36576"/>
          </a:xfrm>
          <a:prstGeom prst="rect">
            <a:avLst/>
          </a:prstGeom>
          <a:solidFill>
            <a:srgbClr val="1A6ED8"/>
          </a:solidFill>
          <a:ln/>
        </p:spPr>
      </p:sp>
      <p:sp>
        <p:nvSpPr>
          <p:cNvPr id="23" name="Text 20"/>
          <p:cNvSpPr/>
          <p:nvPr/>
        </p:nvSpPr>
        <p:spPr>
          <a:xfrm>
            <a:off x="3968496" y="347472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Enforcement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0" y="4636008"/>
            <a:ext cx="9144000" cy="507492"/>
          </a:xfrm>
          <a:prstGeom prst="rect">
            <a:avLst/>
          </a:prstGeom>
          <a:solidFill>
            <a:srgbClr val="030508"/>
          </a:solidFill>
          <a:ln/>
        </p:spPr>
      </p:sp>
      <p:sp>
        <p:nvSpPr>
          <p:cNvPr id="25" name="Text 22"/>
          <p:cNvSpPr/>
          <p:nvPr/>
        </p:nvSpPr>
        <p:spPr>
          <a:xfrm>
            <a:off x="274320" y="4636008"/>
            <a:ext cx="6858000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 Cyber Defence  ·  jupitercyberdefence.com  ·  info@jupitercyberdefence.com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132320" y="4636008"/>
            <a:ext cx="1828800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سري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82030"/>
          </a:solidFill>
          <a:ln/>
        </p:spPr>
      </p:sp>
      <p:sp>
        <p:nvSpPr>
          <p:cNvPr id="3" name="Shape 1"/>
          <p:cNvSpPr/>
          <p:nvPr/>
        </p:nvSpPr>
        <p:spPr>
          <a:xfrm>
            <a:off x="246888" y="182880"/>
            <a:ext cx="2050999" cy="246888"/>
          </a:xfrm>
          <a:prstGeom prst="rect">
            <a:avLst>
              <a:gd name="adj" fmla="val 11111"/>
            </a:avLst>
          </a:prstGeom>
          <a:solidFill>
            <a:srgbClr val="B82030"/>
          </a:solidFill>
          <a:ln/>
        </p:spPr>
      </p:sp>
      <p:sp>
        <p:nvSpPr>
          <p:cNvPr id="4" name="Text 2"/>
          <p:cNvSpPr/>
          <p:nvPr/>
        </p:nvSpPr>
        <p:spPr>
          <a:xfrm>
            <a:off x="246888" y="182880"/>
            <a:ext cx="205099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REALITY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46888" y="548640"/>
            <a:ext cx="865022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SDAIA is actively fining non-compliant organisations.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46888" y="10789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Arabia's PDPL (Royal Decree M/19) reached full effect in 2024. Non-compliance is a present risk, not a future one.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" y="1554480"/>
            <a:ext cx="2761488" cy="2487168"/>
          </a:xfrm>
          <a:prstGeom prst="rect">
            <a:avLst/>
          </a:prstGeom>
          <a:solidFill>
            <a:srgbClr val="101826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46888" y="1554480"/>
            <a:ext cx="2761488" cy="54864"/>
          </a:xfrm>
          <a:prstGeom prst="rect">
            <a:avLst/>
          </a:prstGeom>
          <a:solidFill>
            <a:srgbClr val="B82030"/>
          </a:solidFill>
          <a:ln/>
        </p:spPr>
      </p:sp>
      <p:sp>
        <p:nvSpPr>
          <p:cNvPr id="9" name="Shape 7"/>
          <p:cNvSpPr/>
          <p:nvPr/>
        </p:nvSpPr>
        <p:spPr>
          <a:xfrm>
            <a:off x="448056" y="1737360"/>
            <a:ext cx="475488" cy="475488"/>
          </a:xfrm>
          <a:prstGeom prst="oval">
            <a:avLst/>
          </a:prstGeom>
          <a:solidFill>
            <a:srgbClr val="B82030">
              <a:alpha val="75000"/>
            </a:srgbClr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783080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38328" y="2286000"/>
            <a:ext cx="26151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5M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338328" y="2926080"/>
            <a:ext cx="26151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fine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violation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191256" y="1554480"/>
            <a:ext cx="2761488" cy="2487168"/>
          </a:xfrm>
          <a:prstGeom prst="rect">
            <a:avLst/>
          </a:prstGeom>
          <a:solidFill>
            <a:srgbClr val="101826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91256" y="1554480"/>
            <a:ext cx="2761488" cy="54864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15" name="Shape 12"/>
          <p:cNvSpPr/>
          <p:nvPr/>
        </p:nvSpPr>
        <p:spPr>
          <a:xfrm>
            <a:off x="3392424" y="1737360"/>
            <a:ext cx="475488" cy="475488"/>
          </a:xfrm>
          <a:prstGeom prst="oval">
            <a:avLst/>
          </a:prstGeom>
          <a:solidFill>
            <a:srgbClr val="C89B3C">
              <a:alpha val="75000"/>
            </a:srgbClr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783080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82696" y="2286000"/>
            <a:ext cx="26151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 Hrs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3282696" y="2926080"/>
            <a:ext cx="26151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SDAIA after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breach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135624" y="1554480"/>
            <a:ext cx="2761488" cy="2487168"/>
          </a:xfrm>
          <a:prstGeom prst="rect">
            <a:avLst/>
          </a:prstGeom>
          <a:solidFill>
            <a:srgbClr val="101826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35624" y="1554480"/>
            <a:ext cx="2761488" cy="54864"/>
          </a:xfrm>
          <a:prstGeom prst="rect">
            <a:avLst/>
          </a:prstGeom>
          <a:solidFill>
            <a:srgbClr val="C05810"/>
          </a:solidFill>
          <a:ln/>
        </p:spPr>
      </p:sp>
      <p:sp>
        <p:nvSpPr>
          <p:cNvPr id="21" name="Shape 17"/>
          <p:cNvSpPr/>
          <p:nvPr/>
        </p:nvSpPr>
        <p:spPr>
          <a:xfrm>
            <a:off x="6336792" y="1737360"/>
            <a:ext cx="475488" cy="475488"/>
          </a:xfrm>
          <a:prstGeom prst="oval">
            <a:avLst/>
          </a:prstGeom>
          <a:solidFill>
            <a:srgbClr val="C05810">
              <a:alpha val="75000"/>
            </a:srgbClr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783080"/>
            <a:ext cx="310896" cy="31089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27064" y="2286000"/>
            <a:ext cx="26151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Art. 33</a:t>
            </a:r>
            <a:endParaRPr lang="en-US" sz="3000" dirty="0"/>
          </a:p>
        </p:txBody>
      </p:sp>
      <p:sp>
        <p:nvSpPr>
          <p:cNvPr id="24" name="Text 19"/>
          <p:cNvSpPr/>
          <p:nvPr/>
        </p:nvSpPr>
        <p:spPr>
          <a:xfrm>
            <a:off x="6227064" y="2926080"/>
            <a:ext cx="26151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liability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executives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246888" y="4169664"/>
            <a:ext cx="8650224" cy="493776"/>
          </a:xfrm>
          <a:prstGeom prst="rect">
            <a:avLst/>
          </a:prstGeom>
          <a:solidFill>
            <a:srgbClr val="141E30"/>
          </a:solidFill>
          <a:ln/>
        </p:spPr>
      </p:sp>
      <p:sp>
        <p:nvSpPr>
          <p:cNvPr id="26" name="Shape 21"/>
          <p:cNvSpPr/>
          <p:nvPr/>
        </p:nvSpPr>
        <p:spPr>
          <a:xfrm>
            <a:off x="246888" y="4169664"/>
            <a:ext cx="45720" cy="493776"/>
          </a:xfrm>
          <a:prstGeom prst="rect">
            <a:avLst/>
          </a:prstGeom>
          <a:solidFill>
            <a:srgbClr val="C89B3C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4270248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9808" y="4169664"/>
            <a:ext cx="8046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(هيئة الذكاء الاصطناعي والبيانات) actively monitors compliance. Non-compliance also blocks qualification for government vendor contracts — critical for KSA-facing businesses.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40609"/>
          </a:solidFill>
          <a:ln/>
        </p:spPr>
      </p:sp>
      <p:sp>
        <p:nvSpPr>
          <p:cNvPr id="30" name="Text 24"/>
          <p:cNvSpPr/>
          <p:nvPr/>
        </p:nvSpPr>
        <p:spPr>
          <a:xfrm>
            <a:off x="274320" y="4773168"/>
            <a:ext cx="640080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 Cyber Defence  ·  KSA PDPL Compliance Specialists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6583680" y="4773168"/>
            <a:ext cx="237744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jupitercyberdefence.com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E9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0C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" y="164592"/>
            <a:ext cx="1962302" cy="246888"/>
          </a:xfrm>
          <a:prstGeom prst="rect">
            <a:avLst>
              <a:gd name="adj" fmla="val 11111"/>
            </a:avLst>
          </a:prstGeom>
          <a:solidFill>
            <a:srgbClr val="080C18"/>
          </a:solidFill>
          <a:ln/>
        </p:spPr>
      </p:sp>
      <p:sp>
        <p:nvSpPr>
          <p:cNvPr id="5" name="Text 3"/>
          <p:cNvSpPr/>
          <p:nvPr/>
        </p:nvSpPr>
        <p:spPr>
          <a:xfrm>
            <a:off x="219456" y="164592"/>
            <a:ext cx="196230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PDPL OBLIGATIONS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19456" y="5029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80C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every Saudi business must have in place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164592" y="1097280"/>
            <a:ext cx="2084832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4592" y="1097280"/>
            <a:ext cx="54864" cy="1600200"/>
          </a:xfrm>
          <a:prstGeom prst="rect">
            <a:avLst/>
          </a:prstGeom>
          <a:solidFill>
            <a:srgbClr val="080C18"/>
          </a:solidFill>
          <a:ln/>
        </p:spPr>
      </p:sp>
      <p:sp>
        <p:nvSpPr>
          <p:cNvPr id="9" name="Shape 7"/>
          <p:cNvSpPr/>
          <p:nvPr/>
        </p:nvSpPr>
        <p:spPr>
          <a:xfrm>
            <a:off x="329184" y="1261872"/>
            <a:ext cx="402336" cy="402336"/>
          </a:xfrm>
          <a:prstGeom prst="oval">
            <a:avLst/>
          </a:prstGeom>
          <a:solidFill>
            <a:srgbClr val="080C1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07592"/>
            <a:ext cx="237744" cy="2377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1261872"/>
            <a:ext cx="1316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7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10896" y="1700784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Privacy Policy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10896" y="1984248"/>
            <a:ext cx="184708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notice informing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subjects in Arabic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395728" y="1097280"/>
            <a:ext cx="2084832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395728" y="1097280"/>
            <a:ext cx="54864" cy="1600200"/>
          </a:xfrm>
          <a:prstGeom prst="rect">
            <a:avLst/>
          </a:prstGeom>
          <a:solidFill>
            <a:srgbClr val="080C18"/>
          </a:solidFill>
          <a:ln/>
        </p:spPr>
      </p:sp>
      <p:sp>
        <p:nvSpPr>
          <p:cNvPr id="16" name="Shape 13"/>
          <p:cNvSpPr/>
          <p:nvPr/>
        </p:nvSpPr>
        <p:spPr>
          <a:xfrm>
            <a:off x="2560320" y="1261872"/>
            <a:ext cx="402336" cy="402336"/>
          </a:xfrm>
          <a:prstGeom prst="oval">
            <a:avLst/>
          </a:prstGeom>
          <a:solidFill>
            <a:srgbClr val="080C18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616" y="1307592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054096" y="1261872"/>
            <a:ext cx="1316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5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2542032" y="1700784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Mechanism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2542032" y="1984248"/>
            <a:ext cx="184708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Valid, documented consent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data collection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626864" y="1097280"/>
            <a:ext cx="2084832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626864" y="1097280"/>
            <a:ext cx="54864" cy="1600200"/>
          </a:xfrm>
          <a:prstGeom prst="rect">
            <a:avLst/>
          </a:prstGeom>
          <a:solidFill>
            <a:srgbClr val="080C18"/>
          </a:solidFill>
          <a:ln/>
        </p:spPr>
      </p:sp>
      <p:sp>
        <p:nvSpPr>
          <p:cNvPr id="23" name="Shape 19"/>
          <p:cNvSpPr/>
          <p:nvPr/>
        </p:nvSpPr>
        <p:spPr>
          <a:xfrm>
            <a:off x="4791456" y="1261872"/>
            <a:ext cx="402336" cy="402336"/>
          </a:xfrm>
          <a:prstGeom prst="oval">
            <a:avLst/>
          </a:prstGeom>
          <a:solidFill>
            <a:srgbClr val="080C18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1307592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285232" y="1261872"/>
            <a:ext cx="1316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30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4773168" y="1700784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Appointed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4773168" y="1984248"/>
            <a:ext cx="184708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Officer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with SDAIA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6858000" y="1097280"/>
            <a:ext cx="2084832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858000" y="1097280"/>
            <a:ext cx="54864" cy="1600200"/>
          </a:xfrm>
          <a:prstGeom prst="rect">
            <a:avLst/>
          </a:prstGeom>
          <a:solidFill>
            <a:srgbClr val="080C18"/>
          </a:solidFill>
          <a:ln/>
        </p:spPr>
      </p:sp>
      <p:sp>
        <p:nvSpPr>
          <p:cNvPr id="30" name="Shape 25"/>
          <p:cNvSpPr/>
          <p:nvPr/>
        </p:nvSpPr>
        <p:spPr>
          <a:xfrm>
            <a:off x="7022592" y="1261872"/>
            <a:ext cx="402336" cy="402336"/>
          </a:xfrm>
          <a:prstGeom prst="oval">
            <a:avLst/>
          </a:prstGeom>
          <a:solidFill>
            <a:srgbClr val="080C18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888" y="1307592"/>
            <a:ext cx="237744" cy="23774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516368" y="1261872"/>
            <a:ext cx="1316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15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7004304" y="1700784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DPAs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7004304" y="1984248"/>
            <a:ext cx="184708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agreements with all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processors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164592" y="2880360"/>
            <a:ext cx="2084832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164592" y="2880360"/>
            <a:ext cx="54864" cy="1600200"/>
          </a:xfrm>
          <a:prstGeom prst="rect">
            <a:avLst/>
          </a:prstGeom>
          <a:solidFill>
            <a:srgbClr val="1050A8"/>
          </a:solidFill>
          <a:ln/>
        </p:spPr>
      </p:sp>
      <p:sp>
        <p:nvSpPr>
          <p:cNvPr id="37" name="Shape 31"/>
          <p:cNvSpPr/>
          <p:nvPr/>
        </p:nvSpPr>
        <p:spPr>
          <a:xfrm>
            <a:off x="329184" y="3044952"/>
            <a:ext cx="402336" cy="402336"/>
          </a:xfrm>
          <a:prstGeom prst="oval">
            <a:avLst/>
          </a:prstGeom>
          <a:solidFill>
            <a:srgbClr val="1050A8"/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090672"/>
            <a:ext cx="237744" cy="237744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822960" y="3044952"/>
            <a:ext cx="1316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19</a:t>
            </a:r>
            <a:endParaRPr lang="en-US" sz="800" dirty="0"/>
          </a:p>
        </p:txBody>
      </p:sp>
      <p:sp>
        <p:nvSpPr>
          <p:cNvPr id="40" name="Text 33"/>
          <p:cNvSpPr/>
          <p:nvPr/>
        </p:nvSpPr>
        <p:spPr>
          <a:xfrm>
            <a:off x="310896" y="3483864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Procedure</a:t>
            </a:r>
            <a:endParaRPr lang="en-US" sz="1050" dirty="0"/>
          </a:p>
        </p:txBody>
      </p:sp>
      <p:sp>
        <p:nvSpPr>
          <p:cNvPr id="41" name="Text 34"/>
          <p:cNvSpPr/>
          <p:nvPr/>
        </p:nvSpPr>
        <p:spPr>
          <a:xfrm>
            <a:off x="310896" y="3767328"/>
            <a:ext cx="184708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72-hour SDAIA notification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documented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2395728" y="2880360"/>
            <a:ext cx="2084832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2395728" y="2880360"/>
            <a:ext cx="54864" cy="1600200"/>
          </a:xfrm>
          <a:prstGeom prst="rect">
            <a:avLst/>
          </a:prstGeom>
          <a:solidFill>
            <a:srgbClr val="1050A8"/>
          </a:solidFill>
          <a:ln/>
        </p:spPr>
      </p:sp>
      <p:sp>
        <p:nvSpPr>
          <p:cNvPr id="44" name="Shape 37"/>
          <p:cNvSpPr/>
          <p:nvPr/>
        </p:nvSpPr>
        <p:spPr>
          <a:xfrm>
            <a:off x="2560320" y="3044952"/>
            <a:ext cx="402336" cy="402336"/>
          </a:xfrm>
          <a:prstGeom prst="oval">
            <a:avLst/>
          </a:prstGeom>
          <a:solidFill>
            <a:srgbClr val="1050A8"/>
          </a:solidFill>
          <a:ln/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2616" y="3090672"/>
            <a:ext cx="237744" cy="237744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3054096" y="3044952"/>
            <a:ext cx="1316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20</a:t>
            </a:r>
            <a:endParaRPr lang="en-US" sz="800" dirty="0"/>
          </a:p>
        </p:txBody>
      </p:sp>
      <p:sp>
        <p:nvSpPr>
          <p:cNvPr id="47" name="Text 39"/>
          <p:cNvSpPr/>
          <p:nvPr/>
        </p:nvSpPr>
        <p:spPr>
          <a:xfrm>
            <a:off x="2542032" y="3483864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Security</a:t>
            </a:r>
            <a:endParaRPr lang="en-US" sz="1050" dirty="0"/>
          </a:p>
        </p:txBody>
      </p:sp>
      <p:sp>
        <p:nvSpPr>
          <p:cNvPr id="48" name="Text 40"/>
          <p:cNvSpPr/>
          <p:nvPr/>
        </p:nvSpPr>
        <p:spPr>
          <a:xfrm>
            <a:off x="2542032" y="3767328"/>
            <a:ext cx="184708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Encryption, access controls,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management</a:t>
            </a:r>
            <a:endParaRPr lang="en-US" sz="900" dirty="0"/>
          </a:p>
        </p:txBody>
      </p:sp>
      <p:sp>
        <p:nvSpPr>
          <p:cNvPr id="49" name="Shape 41"/>
          <p:cNvSpPr/>
          <p:nvPr/>
        </p:nvSpPr>
        <p:spPr>
          <a:xfrm>
            <a:off x="4626864" y="2880360"/>
            <a:ext cx="2084832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50" name="Shape 42"/>
          <p:cNvSpPr/>
          <p:nvPr/>
        </p:nvSpPr>
        <p:spPr>
          <a:xfrm>
            <a:off x="4626864" y="2880360"/>
            <a:ext cx="54864" cy="1600200"/>
          </a:xfrm>
          <a:prstGeom prst="rect">
            <a:avLst/>
          </a:prstGeom>
          <a:solidFill>
            <a:srgbClr val="1050A8"/>
          </a:solidFill>
          <a:ln/>
        </p:spPr>
      </p:sp>
      <p:sp>
        <p:nvSpPr>
          <p:cNvPr id="51" name="Shape 43"/>
          <p:cNvSpPr/>
          <p:nvPr/>
        </p:nvSpPr>
        <p:spPr>
          <a:xfrm>
            <a:off x="4791456" y="3044952"/>
            <a:ext cx="402336" cy="402336"/>
          </a:xfrm>
          <a:prstGeom prst="oval">
            <a:avLst/>
          </a:prstGeom>
          <a:solidFill>
            <a:srgbClr val="1050A8"/>
          </a:solidFill>
          <a:ln/>
        </p:spPr>
      </p:sp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752" y="3090672"/>
            <a:ext cx="237744" cy="237744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5285232" y="3044952"/>
            <a:ext cx="1316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18</a:t>
            </a:r>
            <a:endParaRPr lang="en-US" sz="800" dirty="0"/>
          </a:p>
        </p:txBody>
      </p:sp>
      <p:sp>
        <p:nvSpPr>
          <p:cNvPr id="54" name="Text 45"/>
          <p:cNvSpPr/>
          <p:nvPr/>
        </p:nvSpPr>
        <p:spPr>
          <a:xfrm>
            <a:off x="4773168" y="3483864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Schedule</a:t>
            </a:r>
            <a:endParaRPr lang="en-US" sz="1050" dirty="0"/>
          </a:p>
        </p:txBody>
      </p:sp>
      <p:sp>
        <p:nvSpPr>
          <p:cNvPr id="55" name="Text 46"/>
          <p:cNvSpPr/>
          <p:nvPr/>
        </p:nvSpPr>
        <p:spPr>
          <a:xfrm>
            <a:off x="4773168" y="3767328"/>
            <a:ext cx="184708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retention and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procedures</a:t>
            </a:r>
            <a:endParaRPr lang="en-US" sz="900" dirty="0"/>
          </a:p>
        </p:txBody>
      </p:sp>
      <p:sp>
        <p:nvSpPr>
          <p:cNvPr id="56" name="Shape 47"/>
          <p:cNvSpPr/>
          <p:nvPr/>
        </p:nvSpPr>
        <p:spPr>
          <a:xfrm>
            <a:off x="6858000" y="2880360"/>
            <a:ext cx="2084832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57" name="Shape 48"/>
          <p:cNvSpPr/>
          <p:nvPr/>
        </p:nvSpPr>
        <p:spPr>
          <a:xfrm>
            <a:off x="6858000" y="2880360"/>
            <a:ext cx="54864" cy="1600200"/>
          </a:xfrm>
          <a:prstGeom prst="rect">
            <a:avLst/>
          </a:prstGeom>
          <a:solidFill>
            <a:srgbClr val="1050A8"/>
          </a:solidFill>
          <a:ln/>
        </p:spPr>
      </p:sp>
      <p:sp>
        <p:nvSpPr>
          <p:cNvPr id="58" name="Shape 49"/>
          <p:cNvSpPr/>
          <p:nvPr/>
        </p:nvSpPr>
        <p:spPr>
          <a:xfrm>
            <a:off x="7022592" y="3044952"/>
            <a:ext cx="402336" cy="402336"/>
          </a:xfrm>
          <a:prstGeom prst="oval">
            <a:avLst/>
          </a:prstGeom>
          <a:solidFill>
            <a:srgbClr val="1050A8"/>
          </a:solidFill>
          <a:ln/>
        </p:spPr>
      </p:sp>
      <p:pic>
        <p:nvPicPr>
          <p:cNvPr id="5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4888" y="3090672"/>
            <a:ext cx="237744" cy="237744"/>
          </a:xfrm>
          <a:prstGeom prst="rect">
            <a:avLst/>
          </a:prstGeom>
        </p:spPr>
      </p:pic>
      <p:sp>
        <p:nvSpPr>
          <p:cNvPr id="60" name="Text 50"/>
          <p:cNvSpPr/>
          <p:nvPr/>
        </p:nvSpPr>
        <p:spPr>
          <a:xfrm>
            <a:off x="7516368" y="3044952"/>
            <a:ext cx="1316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28</a:t>
            </a:r>
            <a:endParaRPr lang="en-US" sz="800" dirty="0"/>
          </a:p>
        </p:txBody>
      </p:sp>
      <p:sp>
        <p:nvSpPr>
          <p:cNvPr id="61" name="Text 51"/>
          <p:cNvSpPr/>
          <p:nvPr/>
        </p:nvSpPr>
        <p:spPr>
          <a:xfrm>
            <a:off x="7004304" y="3483864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(RoPA)</a:t>
            </a:r>
            <a:endParaRPr lang="en-US" sz="1050" dirty="0"/>
          </a:p>
        </p:txBody>
      </p:sp>
      <p:sp>
        <p:nvSpPr>
          <p:cNvPr id="62" name="Text 52"/>
          <p:cNvSpPr/>
          <p:nvPr/>
        </p:nvSpPr>
        <p:spPr>
          <a:xfrm>
            <a:off x="7004304" y="3767328"/>
            <a:ext cx="184708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records available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SDAIA inspection</a:t>
            </a:r>
            <a:endParaRPr lang="en-US" sz="900" dirty="0"/>
          </a:p>
        </p:txBody>
      </p:sp>
      <p:sp>
        <p:nvSpPr>
          <p:cNvPr id="63" name="Shape 53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C1530"/>
          </a:solidFill>
          <a:ln/>
        </p:spPr>
      </p:sp>
      <p:sp>
        <p:nvSpPr>
          <p:cNvPr id="64" name="Text 54"/>
          <p:cNvSpPr/>
          <p:nvPr/>
        </p:nvSpPr>
        <p:spPr>
          <a:xfrm>
            <a:off x="274320" y="4773168"/>
            <a:ext cx="640080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 Cyber Defence  ·  KSA PDPL Compliance Specialists</a:t>
            </a:r>
            <a:endParaRPr lang="en-US" sz="850" dirty="0"/>
          </a:p>
        </p:txBody>
      </p:sp>
      <p:sp>
        <p:nvSpPr>
          <p:cNvPr id="65" name="Text 55"/>
          <p:cNvSpPr/>
          <p:nvPr/>
        </p:nvSpPr>
        <p:spPr>
          <a:xfrm>
            <a:off x="6583680" y="4773168"/>
            <a:ext cx="237744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jupitercyberdefence.com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3" name="Shape 1"/>
          <p:cNvSpPr/>
          <p:nvPr/>
        </p:nvSpPr>
        <p:spPr>
          <a:xfrm>
            <a:off x="246888" y="182880"/>
            <a:ext cx="2317090" cy="246888"/>
          </a:xfrm>
          <a:prstGeom prst="rect">
            <a:avLst>
              <a:gd name="adj" fmla="val 11111"/>
            </a:avLst>
          </a:prstGeom>
          <a:solidFill>
            <a:srgbClr val="C89B3C"/>
          </a:solidFill>
          <a:ln/>
        </p:spPr>
      </p:sp>
      <p:sp>
        <p:nvSpPr>
          <p:cNvPr id="4" name="Text 2"/>
          <p:cNvSpPr/>
          <p:nvPr/>
        </p:nvSpPr>
        <p:spPr>
          <a:xfrm>
            <a:off x="246888" y="182880"/>
            <a:ext cx="23170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8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KSA AUDITS REVEAL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46888" y="5486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most common PDPL gaps across Saudi SMEs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201168" y="1207008"/>
            <a:ext cx="2816352" cy="1572768"/>
          </a:xfrm>
          <a:prstGeom prst="rect">
            <a:avLst/>
          </a:prstGeom>
          <a:solidFill>
            <a:srgbClr val="101826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207008"/>
            <a:ext cx="2816352" cy="45720"/>
          </a:xfrm>
          <a:prstGeom prst="rect">
            <a:avLst/>
          </a:prstGeom>
          <a:solidFill>
            <a:srgbClr val="B82030"/>
          </a:solidFill>
          <a:ln/>
        </p:spPr>
      </p:sp>
      <p:sp>
        <p:nvSpPr>
          <p:cNvPr id="8" name="Text 6"/>
          <p:cNvSpPr/>
          <p:nvPr/>
        </p:nvSpPr>
        <p:spPr>
          <a:xfrm>
            <a:off x="310896" y="1280160"/>
            <a:ext cx="13533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2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89%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2377440" y="1335024"/>
            <a:ext cx="457200" cy="457200"/>
          </a:xfrm>
          <a:prstGeom prst="oval">
            <a:avLst/>
          </a:prstGeom>
          <a:solidFill>
            <a:srgbClr val="B82030">
              <a:alpha val="75000"/>
            </a:srgbClr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0592" y="1380744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10896" y="190195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KSA SMEs audited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10896" y="21579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Arabic Privacy Policy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10896" y="245059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Outdated, missing, or English-only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191256" y="1207008"/>
            <a:ext cx="2816352" cy="1572768"/>
          </a:xfrm>
          <a:prstGeom prst="rect">
            <a:avLst/>
          </a:prstGeom>
          <a:solidFill>
            <a:srgbClr val="101826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191256" y="1207008"/>
            <a:ext cx="2816352" cy="45720"/>
          </a:xfrm>
          <a:prstGeom prst="rect">
            <a:avLst/>
          </a:prstGeom>
          <a:solidFill>
            <a:srgbClr val="B82030"/>
          </a:solidFill>
          <a:ln/>
        </p:spPr>
      </p:sp>
      <p:sp>
        <p:nvSpPr>
          <p:cNvPr id="16" name="Text 13"/>
          <p:cNvSpPr/>
          <p:nvPr/>
        </p:nvSpPr>
        <p:spPr>
          <a:xfrm>
            <a:off x="3300984" y="1280160"/>
            <a:ext cx="13533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2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82%</a:t>
            </a:r>
            <a:endParaRPr lang="en-US" sz="3000" dirty="0"/>
          </a:p>
        </p:txBody>
      </p:sp>
      <p:sp>
        <p:nvSpPr>
          <p:cNvPr id="17" name="Shape 14"/>
          <p:cNvSpPr/>
          <p:nvPr/>
        </p:nvSpPr>
        <p:spPr>
          <a:xfrm>
            <a:off x="5367528" y="1335024"/>
            <a:ext cx="457200" cy="457200"/>
          </a:xfrm>
          <a:prstGeom prst="oval">
            <a:avLst/>
          </a:prstGeom>
          <a:solidFill>
            <a:srgbClr val="B82030">
              <a:alpha val="75000"/>
            </a:srgbClr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380744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300984" y="190195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KSA SMEs audited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3300984" y="21579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Consent Mechanism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3300984" y="245059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Website/app lacks valid consent flow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181344" y="1207008"/>
            <a:ext cx="2816352" cy="1572768"/>
          </a:xfrm>
          <a:prstGeom prst="rect">
            <a:avLst/>
          </a:prstGeom>
          <a:solidFill>
            <a:srgbClr val="101826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81344" y="1207008"/>
            <a:ext cx="2816352" cy="45720"/>
          </a:xfrm>
          <a:prstGeom prst="rect">
            <a:avLst/>
          </a:prstGeom>
          <a:solidFill>
            <a:srgbClr val="C05810"/>
          </a:solidFill>
          <a:ln/>
        </p:spPr>
      </p:sp>
      <p:sp>
        <p:nvSpPr>
          <p:cNvPr id="24" name="Text 20"/>
          <p:cNvSpPr/>
          <p:nvPr/>
        </p:nvSpPr>
        <p:spPr>
          <a:xfrm>
            <a:off x="6291072" y="1280160"/>
            <a:ext cx="13533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5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76%</a:t>
            </a:r>
            <a:endParaRPr lang="en-US" sz="3000" dirty="0"/>
          </a:p>
        </p:txBody>
      </p:sp>
      <p:sp>
        <p:nvSpPr>
          <p:cNvPr id="25" name="Shape 21"/>
          <p:cNvSpPr/>
          <p:nvPr/>
        </p:nvSpPr>
        <p:spPr>
          <a:xfrm>
            <a:off x="8357616" y="1335024"/>
            <a:ext cx="457200" cy="457200"/>
          </a:xfrm>
          <a:prstGeom prst="oval">
            <a:avLst/>
          </a:prstGeom>
          <a:solidFill>
            <a:srgbClr val="C05810">
              <a:alpha val="75000"/>
            </a:srgbClr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1380744"/>
            <a:ext cx="310896" cy="31089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291072" y="190195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KSA SMEs audited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6291072" y="21579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DPO Registered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6291072" y="245059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officer appointed with SDAIA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201168" y="2962656"/>
            <a:ext cx="2816352" cy="1572768"/>
          </a:xfrm>
          <a:prstGeom prst="rect">
            <a:avLst/>
          </a:prstGeom>
          <a:solidFill>
            <a:srgbClr val="101826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201168" y="2962656"/>
            <a:ext cx="2816352" cy="45720"/>
          </a:xfrm>
          <a:prstGeom prst="rect">
            <a:avLst/>
          </a:prstGeom>
          <a:solidFill>
            <a:srgbClr val="B82030"/>
          </a:solidFill>
          <a:ln/>
        </p:spPr>
      </p:sp>
      <p:sp>
        <p:nvSpPr>
          <p:cNvPr id="32" name="Text 27"/>
          <p:cNvSpPr/>
          <p:nvPr/>
        </p:nvSpPr>
        <p:spPr>
          <a:xfrm>
            <a:off x="310896" y="3035808"/>
            <a:ext cx="13533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2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84%</a:t>
            </a:r>
            <a:endParaRPr lang="en-US" sz="3000" dirty="0"/>
          </a:p>
        </p:txBody>
      </p:sp>
      <p:sp>
        <p:nvSpPr>
          <p:cNvPr id="33" name="Shape 28"/>
          <p:cNvSpPr/>
          <p:nvPr/>
        </p:nvSpPr>
        <p:spPr>
          <a:xfrm>
            <a:off x="2377440" y="3090672"/>
            <a:ext cx="457200" cy="457200"/>
          </a:xfrm>
          <a:prstGeom prst="oval">
            <a:avLst/>
          </a:prstGeom>
          <a:solidFill>
            <a:srgbClr val="B82030">
              <a:alpha val="75000"/>
            </a:srgbClr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0592" y="3136392"/>
            <a:ext cx="310896" cy="310896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310896" y="36576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KSA SMEs audited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310896" y="39136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 DPAs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310896" y="420624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processors uncontracted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3191256" y="2962656"/>
            <a:ext cx="2816352" cy="1572768"/>
          </a:xfrm>
          <a:prstGeom prst="rect">
            <a:avLst/>
          </a:prstGeom>
          <a:solidFill>
            <a:srgbClr val="101826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3191256" y="2962656"/>
            <a:ext cx="2816352" cy="45720"/>
          </a:xfrm>
          <a:prstGeom prst="rect">
            <a:avLst/>
          </a:prstGeom>
          <a:solidFill>
            <a:srgbClr val="B82030"/>
          </a:solidFill>
          <a:ln/>
        </p:spPr>
      </p:sp>
      <p:sp>
        <p:nvSpPr>
          <p:cNvPr id="40" name="Text 34"/>
          <p:cNvSpPr/>
          <p:nvPr/>
        </p:nvSpPr>
        <p:spPr>
          <a:xfrm>
            <a:off x="3300984" y="3035808"/>
            <a:ext cx="13533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2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93%</a:t>
            </a:r>
            <a:endParaRPr lang="en-US" sz="3000" dirty="0"/>
          </a:p>
        </p:txBody>
      </p:sp>
      <p:sp>
        <p:nvSpPr>
          <p:cNvPr id="41" name="Shape 35"/>
          <p:cNvSpPr/>
          <p:nvPr/>
        </p:nvSpPr>
        <p:spPr>
          <a:xfrm>
            <a:off x="5367528" y="3090672"/>
            <a:ext cx="457200" cy="457200"/>
          </a:xfrm>
          <a:prstGeom prst="oval">
            <a:avLst/>
          </a:prstGeom>
          <a:solidFill>
            <a:srgbClr val="B82030">
              <a:alpha val="75000"/>
            </a:srgbClr>
          </a:solidFill>
          <a:ln/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3136392"/>
            <a:ext cx="310896" cy="310896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3300984" y="36576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KSA SMEs audited</a:t>
            </a:r>
            <a:endParaRPr lang="en-US" sz="800" dirty="0"/>
          </a:p>
        </p:txBody>
      </p:sp>
      <p:sp>
        <p:nvSpPr>
          <p:cNvPr id="44" name="Text 37"/>
          <p:cNvSpPr/>
          <p:nvPr/>
        </p:nvSpPr>
        <p:spPr>
          <a:xfrm>
            <a:off x="3300984" y="39136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Breach Procedure</a:t>
            </a:r>
            <a:endParaRPr lang="en-US" sz="1050" dirty="0"/>
          </a:p>
        </p:txBody>
      </p:sp>
      <p:sp>
        <p:nvSpPr>
          <p:cNvPr id="45" name="Text 38"/>
          <p:cNvSpPr/>
          <p:nvPr/>
        </p:nvSpPr>
        <p:spPr>
          <a:xfrm>
            <a:off x="3300984" y="420624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72-hour notification workflow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6181344" y="2962656"/>
            <a:ext cx="2816352" cy="1572768"/>
          </a:xfrm>
          <a:prstGeom prst="rect">
            <a:avLst/>
          </a:prstGeom>
          <a:solidFill>
            <a:srgbClr val="101826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47" name="Shape 40"/>
          <p:cNvSpPr/>
          <p:nvPr/>
        </p:nvSpPr>
        <p:spPr>
          <a:xfrm>
            <a:off x="6181344" y="2962656"/>
            <a:ext cx="2816352" cy="45720"/>
          </a:xfrm>
          <a:prstGeom prst="rect">
            <a:avLst/>
          </a:prstGeom>
          <a:solidFill>
            <a:srgbClr val="C05810"/>
          </a:solidFill>
          <a:ln/>
        </p:spPr>
      </p:sp>
      <p:sp>
        <p:nvSpPr>
          <p:cNvPr id="48" name="Text 41"/>
          <p:cNvSpPr/>
          <p:nvPr/>
        </p:nvSpPr>
        <p:spPr>
          <a:xfrm>
            <a:off x="6291072" y="3035808"/>
            <a:ext cx="13533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5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71%</a:t>
            </a:r>
            <a:endParaRPr lang="en-US" sz="3000" dirty="0"/>
          </a:p>
        </p:txBody>
      </p:sp>
      <p:sp>
        <p:nvSpPr>
          <p:cNvPr id="49" name="Shape 42"/>
          <p:cNvSpPr/>
          <p:nvPr/>
        </p:nvSpPr>
        <p:spPr>
          <a:xfrm>
            <a:off x="8357616" y="3090672"/>
            <a:ext cx="457200" cy="457200"/>
          </a:xfrm>
          <a:prstGeom prst="oval">
            <a:avLst/>
          </a:prstGeom>
          <a:solidFill>
            <a:srgbClr val="C05810">
              <a:alpha val="75000"/>
            </a:srgbClr>
          </a:solidFill>
          <a:ln/>
        </p:spPr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768" y="3136392"/>
            <a:ext cx="310896" cy="310896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6291072" y="36576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KSA SMEs audited</a:t>
            </a:r>
            <a:endParaRPr lang="en-US" sz="800" dirty="0"/>
          </a:p>
        </p:txBody>
      </p:sp>
      <p:sp>
        <p:nvSpPr>
          <p:cNvPr id="52" name="Text 44"/>
          <p:cNvSpPr/>
          <p:nvPr/>
        </p:nvSpPr>
        <p:spPr>
          <a:xfrm>
            <a:off x="6291072" y="39136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RoPA Maintained</a:t>
            </a:r>
            <a:endParaRPr lang="en-US" sz="1050" dirty="0"/>
          </a:p>
        </p:txBody>
      </p:sp>
      <p:sp>
        <p:nvSpPr>
          <p:cNvPr id="53" name="Text 45"/>
          <p:cNvSpPr/>
          <p:nvPr/>
        </p:nvSpPr>
        <p:spPr>
          <a:xfrm>
            <a:off x="6291072" y="420624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records don't exist</a:t>
            </a:r>
            <a:endParaRPr lang="en-US" sz="900" dirty="0"/>
          </a:p>
        </p:txBody>
      </p:sp>
      <p:sp>
        <p:nvSpPr>
          <p:cNvPr id="54" name="Shape 46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40609"/>
          </a:solidFill>
          <a:ln/>
        </p:spPr>
      </p:sp>
      <p:sp>
        <p:nvSpPr>
          <p:cNvPr id="55" name="Text 47"/>
          <p:cNvSpPr/>
          <p:nvPr/>
        </p:nvSpPr>
        <p:spPr>
          <a:xfrm>
            <a:off x="274320" y="4773168"/>
            <a:ext cx="640080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 Cyber Defence  ·  Based on KSA SME audit findings 2024–2025</a:t>
            </a:r>
            <a:endParaRPr lang="en-US" sz="850" dirty="0"/>
          </a:p>
        </p:txBody>
      </p:sp>
      <p:sp>
        <p:nvSpPr>
          <p:cNvPr id="56" name="Text 48"/>
          <p:cNvSpPr/>
          <p:nvPr/>
        </p:nvSpPr>
        <p:spPr>
          <a:xfrm>
            <a:off x="6583680" y="4773168"/>
            <a:ext cx="237744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jupitercyberdefence.com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E9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0C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050A8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" y="164592"/>
            <a:ext cx="1430122" cy="246888"/>
          </a:xfrm>
          <a:prstGeom prst="rect">
            <a:avLst>
              <a:gd name="adj" fmla="val 11111"/>
            </a:avLst>
          </a:prstGeom>
          <a:solidFill>
            <a:srgbClr val="080C18"/>
          </a:solidFill>
          <a:ln/>
        </p:spPr>
      </p:sp>
      <p:sp>
        <p:nvSpPr>
          <p:cNvPr id="5" name="Text 3"/>
          <p:cNvSpPr/>
          <p:nvPr/>
        </p:nvSpPr>
        <p:spPr>
          <a:xfrm>
            <a:off x="219456" y="164592"/>
            <a:ext cx="143012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PACKAGES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19456" y="5029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80C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fixed-price packages for Saudi businesses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182880" y="1097280"/>
            <a:ext cx="28346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097280"/>
            <a:ext cx="2834640" cy="877824"/>
          </a:xfrm>
          <a:prstGeom prst="rect">
            <a:avLst/>
          </a:prstGeom>
          <a:solidFill>
            <a:srgbClr val="080C18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115568"/>
            <a:ext cx="694944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C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50976" y="1133856"/>
            <a:ext cx="1938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فحص الاستعداد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0976" y="1463040"/>
            <a:ext cx="1938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Scan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066544"/>
            <a:ext cx="2651760" cy="475488"/>
          </a:xfrm>
          <a:prstGeom prst="rect">
            <a:avLst/>
          </a:prstGeom>
          <a:solidFill>
            <a:srgbClr val="D8E0F0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" y="206654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0C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15,000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011680" y="2066544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days</a:t>
            </a:r>
            <a:endParaRPr lang="en-US" sz="9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" y="2761488"/>
            <a:ext cx="137160" cy="137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12064" y="26700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PDPL gap analysis</a:t>
            </a:r>
            <a:endParaRPr lang="en-US" sz="9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3163824"/>
            <a:ext cx="137160" cy="1371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12064" y="307238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mapping interview</a:t>
            </a:r>
            <a:endParaRPr lang="en-US" sz="9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3566160"/>
            <a:ext cx="137160" cy="1371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2064" y="34747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+ English risk report</a:t>
            </a:r>
            <a:endParaRPr lang="en-US" sz="9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3968496"/>
            <a:ext cx="137160" cy="1371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12064" y="387705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action list</a:t>
            </a:r>
            <a:endParaRPr lang="en-US" sz="9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4370832"/>
            <a:ext cx="137160" cy="1371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2064" y="42793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first assessment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3172968" y="1097280"/>
            <a:ext cx="28346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3172968" y="1097280"/>
            <a:ext cx="2834640" cy="877824"/>
          </a:xfrm>
          <a:prstGeom prst="rect">
            <a:avLst/>
          </a:prstGeom>
          <a:solidFill>
            <a:srgbClr val="1050A8"/>
          </a:solidFill>
          <a:ln/>
        </p:spPr>
      </p:sp>
      <p:sp>
        <p:nvSpPr>
          <p:cNvPr id="27" name="Text 20"/>
          <p:cNvSpPr/>
          <p:nvPr/>
        </p:nvSpPr>
        <p:spPr>
          <a:xfrm>
            <a:off x="3264408" y="1115568"/>
            <a:ext cx="694944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C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28" name="Text 21"/>
          <p:cNvSpPr/>
          <p:nvPr/>
        </p:nvSpPr>
        <p:spPr>
          <a:xfrm>
            <a:off x="3941064" y="1133856"/>
            <a:ext cx="1938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التدقيق الشامل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941064" y="1463040"/>
            <a:ext cx="1938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PDPL Audit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3264408" y="2066544"/>
            <a:ext cx="2651760" cy="475488"/>
          </a:xfrm>
          <a:prstGeom prst="rect">
            <a:avLst/>
          </a:prstGeom>
          <a:solidFill>
            <a:srgbClr val="C8D4EE"/>
          </a:solidFill>
          <a:ln/>
        </p:spPr>
      </p:sp>
      <p:sp>
        <p:nvSpPr>
          <p:cNvPr id="31" name="Text 24"/>
          <p:cNvSpPr/>
          <p:nvPr/>
        </p:nvSpPr>
        <p:spPr>
          <a:xfrm>
            <a:off x="3300984" y="206654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5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35,000</a:t>
            </a:r>
            <a:endParaRPr lang="en-US" sz="1700" dirty="0"/>
          </a:p>
        </p:txBody>
      </p:sp>
      <p:sp>
        <p:nvSpPr>
          <p:cNvPr id="32" name="Text 25"/>
          <p:cNvSpPr/>
          <p:nvPr/>
        </p:nvSpPr>
        <p:spPr>
          <a:xfrm>
            <a:off x="5001768" y="2066544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weeks</a:t>
            </a:r>
            <a:endParaRPr lang="en-US" sz="90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0984" y="2761488"/>
            <a:ext cx="137160" cy="13716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502152" y="26700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Package 1</a:t>
            </a:r>
            <a:endParaRPr lang="en-US" sz="95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0984" y="3163824"/>
            <a:ext cx="137160" cy="13716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3502152" y="307238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vulnerability scan</a:t>
            </a:r>
            <a:endParaRPr lang="en-US" sz="950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0984" y="3566160"/>
            <a:ext cx="137160" cy="13716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3502152" y="34747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procedure review</a:t>
            </a:r>
            <a:endParaRPr lang="en-US" sz="950" dirty="0"/>
          </a:p>
        </p:txBody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00984" y="3968496"/>
            <a:ext cx="137160" cy="13716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3502152" y="387705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cookie compliance</a:t>
            </a:r>
            <a:endParaRPr lang="en-US" sz="950" dirty="0"/>
          </a:p>
        </p:txBody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00984" y="4370832"/>
            <a:ext cx="137160" cy="137160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3502152" y="42793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report + roadmap</a:t>
            </a:r>
            <a:endParaRPr lang="en-US" sz="950" dirty="0"/>
          </a:p>
        </p:txBody>
      </p:sp>
      <p:sp>
        <p:nvSpPr>
          <p:cNvPr id="43" name="Shape 31"/>
          <p:cNvSpPr/>
          <p:nvPr/>
        </p:nvSpPr>
        <p:spPr>
          <a:xfrm>
            <a:off x="6163056" y="1097280"/>
            <a:ext cx="28346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44" name="Shape 32"/>
          <p:cNvSpPr/>
          <p:nvPr/>
        </p:nvSpPr>
        <p:spPr>
          <a:xfrm>
            <a:off x="6163056" y="1097280"/>
            <a:ext cx="2834640" cy="877824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45" name="Text 33"/>
          <p:cNvSpPr/>
          <p:nvPr/>
        </p:nvSpPr>
        <p:spPr>
          <a:xfrm>
            <a:off x="6254496" y="1115568"/>
            <a:ext cx="694944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0C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46" name="Text 34"/>
          <p:cNvSpPr/>
          <p:nvPr/>
        </p:nvSpPr>
        <p:spPr>
          <a:xfrm>
            <a:off x="6931152" y="1133856"/>
            <a:ext cx="1938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8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التدقيق والمعالجة</a:t>
            </a:r>
            <a:endParaRPr lang="en-US" sz="1200" dirty="0"/>
          </a:p>
        </p:txBody>
      </p:sp>
      <p:sp>
        <p:nvSpPr>
          <p:cNvPr id="47" name="Text 35"/>
          <p:cNvSpPr/>
          <p:nvPr/>
        </p:nvSpPr>
        <p:spPr>
          <a:xfrm>
            <a:off x="6931152" y="1463040"/>
            <a:ext cx="1938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+ Remediation</a:t>
            </a:r>
            <a:endParaRPr lang="en-US" sz="950" dirty="0"/>
          </a:p>
        </p:txBody>
      </p:sp>
      <p:sp>
        <p:nvSpPr>
          <p:cNvPr id="48" name="Shape 36"/>
          <p:cNvSpPr/>
          <p:nvPr/>
        </p:nvSpPr>
        <p:spPr>
          <a:xfrm>
            <a:off x="6254496" y="2066544"/>
            <a:ext cx="2651760" cy="475488"/>
          </a:xfrm>
          <a:prstGeom prst="rect">
            <a:avLst/>
          </a:prstGeom>
          <a:solidFill>
            <a:srgbClr val="F2E8D0"/>
          </a:solidFill>
          <a:ln/>
        </p:spPr>
      </p:sp>
      <p:sp>
        <p:nvSpPr>
          <p:cNvPr id="49" name="Text 37"/>
          <p:cNvSpPr/>
          <p:nvPr/>
        </p:nvSpPr>
        <p:spPr>
          <a:xfrm>
            <a:off x="6291072" y="206654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9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70,000</a:t>
            </a:r>
            <a:endParaRPr lang="en-US" sz="1700" dirty="0"/>
          </a:p>
        </p:txBody>
      </p:sp>
      <p:sp>
        <p:nvSpPr>
          <p:cNvPr id="50" name="Text 38"/>
          <p:cNvSpPr/>
          <p:nvPr/>
        </p:nvSpPr>
        <p:spPr>
          <a:xfrm>
            <a:off x="7991856" y="2066544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weeks</a:t>
            </a:r>
            <a:endParaRPr lang="en-US" sz="900" dirty="0"/>
          </a:p>
        </p:txBody>
      </p:sp>
      <p:pic>
        <p:nvPicPr>
          <p:cNvPr id="5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1072" y="2761488"/>
            <a:ext cx="137160" cy="137160"/>
          </a:xfrm>
          <a:prstGeom prst="rect">
            <a:avLst/>
          </a:prstGeom>
        </p:spPr>
      </p:pic>
      <p:sp>
        <p:nvSpPr>
          <p:cNvPr id="52" name="Text 39"/>
          <p:cNvSpPr/>
          <p:nvPr/>
        </p:nvSpPr>
        <p:spPr>
          <a:xfrm>
            <a:off x="6492240" y="26700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Package 2</a:t>
            </a:r>
            <a:endParaRPr lang="en-US" sz="950" dirty="0"/>
          </a:p>
        </p:txBody>
      </p:sp>
      <p:pic>
        <p:nvPicPr>
          <p:cNvPr id="5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91072" y="3163824"/>
            <a:ext cx="137160" cy="137160"/>
          </a:xfrm>
          <a:prstGeom prst="rect">
            <a:avLst/>
          </a:prstGeom>
        </p:spPr>
      </p:pic>
      <p:sp>
        <p:nvSpPr>
          <p:cNvPr id="54" name="Text 40"/>
          <p:cNvSpPr/>
          <p:nvPr/>
        </p:nvSpPr>
        <p:spPr>
          <a:xfrm>
            <a:off x="6492240" y="307238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remediation support</a:t>
            </a:r>
            <a:endParaRPr lang="en-US" sz="950" dirty="0"/>
          </a:p>
        </p:txBody>
      </p:sp>
      <p:pic>
        <p:nvPicPr>
          <p:cNvPr id="5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91072" y="3566160"/>
            <a:ext cx="137160" cy="137160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6492240" y="34747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policy templates</a:t>
            </a:r>
            <a:endParaRPr lang="en-US" sz="950" dirty="0"/>
          </a:p>
        </p:txBody>
      </p:sp>
      <p:pic>
        <p:nvPicPr>
          <p:cNvPr id="5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91072" y="3968496"/>
            <a:ext cx="137160" cy="137160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6492240" y="387705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awareness training</a:t>
            </a:r>
            <a:endParaRPr lang="en-US" sz="950" dirty="0"/>
          </a:p>
        </p:txBody>
      </p:sp>
      <p:pic>
        <p:nvPicPr>
          <p:cNvPr id="5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91072" y="4370832"/>
            <a:ext cx="137160" cy="137160"/>
          </a:xfrm>
          <a:prstGeom prst="rect">
            <a:avLst/>
          </a:prstGeom>
        </p:spPr>
      </p:pic>
      <p:sp>
        <p:nvSpPr>
          <p:cNvPr id="60" name="Text 43"/>
          <p:cNvSpPr/>
          <p:nvPr/>
        </p:nvSpPr>
        <p:spPr>
          <a:xfrm>
            <a:off x="6492240" y="42793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retainer option</a:t>
            </a:r>
            <a:endParaRPr lang="en-US" sz="950" dirty="0"/>
          </a:p>
        </p:txBody>
      </p:sp>
      <p:sp>
        <p:nvSpPr>
          <p:cNvPr id="61" name="Text 44"/>
          <p:cNvSpPr/>
          <p:nvPr/>
        </p:nvSpPr>
        <p:spPr>
          <a:xfrm>
            <a:off x="182880" y="4873752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5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PDPL retainer from SAR 18,000/yr — quarterly reviews, incident support &amp; ongoing advisory  ·  jupitercyberdefence.com</a:t>
            </a:r>
            <a:endParaRPr lang="en-US" sz="850" dirty="0"/>
          </a:p>
        </p:txBody>
      </p:sp>
      <p:sp>
        <p:nvSpPr>
          <p:cNvPr id="62" name="Shape 45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C1530"/>
          </a:solidFill>
          <a:ln/>
        </p:spPr>
      </p:sp>
      <p:sp>
        <p:nvSpPr>
          <p:cNvPr id="63" name="Text 46"/>
          <p:cNvSpPr/>
          <p:nvPr/>
        </p:nvSpPr>
        <p:spPr>
          <a:xfrm>
            <a:off x="274320" y="4773168"/>
            <a:ext cx="640080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 Cyber Defence  ·  KSA PDPL Compliance Specialists</a:t>
            </a:r>
            <a:endParaRPr lang="en-US" sz="850" dirty="0"/>
          </a:p>
        </p:txBody>
      </p:sp>
      <p:sp>
        <p:nvSpPr>
          <p:cNvPr id="64" name="Text 47"/>
          <p:cNvSpPr/>
          <p:nvPr/>
        </p:nvSpPr>
        <p:spPr>
          <a:xfrm>
            <a:off x="6583680" y="4773168"/>
            <a:ext cx="237744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jupitercyberdefence.com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2CC"/>
          </a:solidFill>
          <a:ln/>
        </p:spPr>
      </p:sp>
      <p:sp>
        <p:nvSpPr>
          <p:cNvPr id="3" name="Shape 1"/>
          <p:cNvSpPr/>
          <p:nvPr/>
        </p:nvSpPr>
        <p:spPr>
          <a:xfrm>
            <a:off x="246888" y="182880"/>
            <a:ext cx="2228393" cy="246888"/>
          </a:xfrm>
          <a:prstGeom prst="rect">
            <a:avLst>
              <a:gd name="adj" fmla="val 11111"/>
            </a:avLst>
          </a:prstGeom>
          <a:solidFill>
            <a:srgbClr val="00C2CC"/>
          </a:solidFill>
          <a:ln/>
        </p:spPr>
      </p:sp>
      <p:sp>
        <p:nvSpPr>
          <p:cNvPr id="4" name="Text 2"/>
          <p:cNvSpPr/>
          <p:nvPr/>
        </p:nvSpPr>
        <p:spPr>
          <a:xfrm>
            <a:off x="246888" y="182880"/>
            <a:ext cx="222839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8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JUPITER ADVANTAGE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46888" y="5486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the audit — continuous compliance confidence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201168" y="1170432"/>
            <a:ext cx="45720" cy="731520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7" name="Shape 5"/>
          <p:cNvSpPr/>
          <p:nvPr/>
        </p:nvSpPr>
        <p:spPr>
          <a:xfrm>
            <a:off x="310896" y="1298448"/>
            <a:ext cx="438912" cy="438912"/>
          </a:xfrm>
          <a:prstGeom prst="oval">
            <a:avLst/>
          </a:prstGeom>
          <a:solidFill>
            <a:srgbClr val="C89B3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134416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121615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Risk Monitoring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77824" y="1481328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 of external exposure, cloud posture, and identity hygiene — not a point-in-time snapshot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01168" y="2066544"/>
            <a:ext cx="45720" cy="731520"/>
          </a:xfrm>
          <a:prstGeom prst="rect">
            <a:avLst/>
          </a:prstGeom>
          <a:solidFill>
            <a:srgbClr val="1A6ED8"/>
          </a:solidFill>
          <a:ln/>
        </p:spPr>
      </p:sp>
      <p:sp>
        <p:nvSpPr>
          <p:cNvPr id="12" name="Shape 9"/>
          <p:cNvSpPr/>
          <p:nvPr/>
        </p:nvSpPr>
        <p:spPr>
          <a:xfrm>
            <a:off x="310896" y="2194560"/>
            <a:ext cx="438912" cy="438912"/>
          </a:xfrm>
          <a:prstGeom prst="oval">
            <a:avLst/>
          </a:prstGeom>
          <a:solidFill>
            <a:srgbClr val="1A6ED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22402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77824" y="2112264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Mapping (PDPL-aligned)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877824" y="2377440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mapped against SDAIA requirements with clear gap status, priority actions, and audit-ready evidence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201168" y="2962656"/>
            <a:ext cx="45720" cy="731520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17" name="Shape 13"/>
          <p:cNvSpPr/>
          <p:nvPr/>
        </p:nvSpPr>
        <p:spPr>
          <a:xfrm>
            <a:off x="310896" y="3090672"/>
            <a:ext cx="438912" cy="438912"/>
          </a:xfrm>
          <a:prstGeom prst="oval">
            <a:avLst/>
          </a:prstGeom>
          <a:solidFill>
            <a:srgbClr val="C89B3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313639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77824" y="3008376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Reports in Arabic + English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877824" y="3273552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reports that explain progress, gaps, and ownership — ready for SDAIA inspection on demand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201168" y="3858768"/>
            <a:ext cx="45720" cy="731520"/>
          </a:xfrm>
          <a:prstGeom prst="rect">
            <a:avLst/>
          </a:prstGeom>
          <a:solidFill>
            <a:srgbClr val="1A6ED8"/>
          </a:solidFill>
          <a:ln/>
        </p:spPr>
      </p:sp>
      <p:sp>
        <p:nvSpPr>
          <p:cNvPr id="22" name="Shape 17"/>
          <p:cNvSpPr/>
          <p:nvPr/>
        </p:nvSpPr>
        <p:spPr>
          <a:xfrm>
            <a:off x="310896" y="3986784"/>
            <a:ext cx="438912" cy="438912"/>
          </a:xfrm>
          <a:prstGeom prst="oval">
            <a:avLst/>
          </a:prstGeom>
          <a:solidFill>
            <a:srgbClr val="1A6ED8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4032504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77824" y="39044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Day Action Plans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877824" y="4169664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roadmap prioritised by business impact — your team knows exactly what to fix first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5577840" y="1115568"/>
            <a:ext cx="3364992" cy="3657600"/>
          </a:xfrm>
          <a:prstGeom prst="rect">
            <a:avLst/>
          </a:prstGeom>
          <a:solidFill>
            <a:srgbClr val="141E30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577840" y="1115568"/>
            <a:ext cx="3364992" cy="54864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28" name="Text 22"/>
          <p:cNvSpPr/>
          <p:nvPr/>
        </p:nvSpPr>
        <p:spPr>
          <a:xfrm>
            <a:off x="5669280" y="1207008"/>
            <a:ext cx="3182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بالأرقام  ·  BY THE NUMBERS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5650992" y="1645920"/>
            <a:ext cx="1536192" cy="1389888"/>
          </a:xfrm>
          <a:prstGeom prst="rect">
            <a:avLst/>
          </a:prstGeom>
          <a:solidFill>
            <a:srgbClr val="101826"/>
          </a:solidFill>
          <a:ln/>
        </p:spPr>
      </p:sp>
      <p:sp>
        <p:nvSpPr>
          <p:cNvPr id="30" name="Text 24"/>
          <p:cNvSpPr/>
          <p:nvPr/>
        </p:nvSpPr>
        <p:spPr>
          <a:xfrm>
            <a:off x="5650992" y="1737360"/>
            <a:ext cx="153619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C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150+</a:t>
            </a:r>
            <a:endParaRPr lang="en-US" sz="2800" dirty="0"/>
          </a:p>
        </p:txBody>
      </p:sp>
      <p:sp>
        <p:nvSpPr>
          <p:cNvPr id="31" name="Text 25"/>
          <p:cNvSpPr/>
          <p:nvPr/>
        </p:nvSpPr>
        <p:spPr>
          <a:xfrm>
            <a:off x="5650992" y="2395728"/>
            <a:ext cx="1536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&amp; GCC SMEs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7315200" y="1645920"/>
            <a:ext cx="1536192" cy="1389888"/>
          </a:xfrm>
          <a:prstGeom prst="rect">
            <a:avLst/>
          </a:prstGeom>
          <a:solidFill>
            <a:srgbClr val="101826"/>
          </a:solidFill>
          <a:ln/>
        </p:spPr>
      </p:sp>
      <p:sp>
        <p:nvSpPr>
          <p:cNvPr id="33" name="Text 27"/>
          <p:cNvSpPr/>
          <p:nvPr/>
        </p:nvSpPr>
        <p:spPr>
          <a:xfrm>
            <a:off x="7315200" y="1737360"/>
            <a:ext cx="153619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C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800" dirty="0"/>
          </a:p>
        </p:txBody>
      </p:sp>
      <p:sp>
        <p:nvSpPr>
          <p:cNvPr id="34" name="Text 28"/>
          <p:cNvSpPr/>
          <p:nvPr/>
        </p:nvSpPr>
        <p:spPr>
          <a:xfrm>
            <a:off x="7315200" y="2395728"/>
            <a:ext cx="1536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delivered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Arabic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5650992" y="3218688"/>
            <a:ext cx="1536192" cy="1389888"/>
          </a:xfrm>
          <a:prstGeom prst="rect">
            <a:avLst/>
          </a:prstGeom>
          <a:solidFill>
            <a:srgbClr val="101826"/>
          </a:solidFill>
          <a:ln/>
        </p:spPr>
      </p:sp>
      <p:sp>
        <p:nvSpPr>
          <p:cNvPr id="36" name="Text 30"/>
          <p:cNvSpPr/>
          <p:nvPr/>
        </p:nvSpPr>
        <p:spPr>
          <a:xfrm>
            <a:off x="5650992" y="3310128"/>
            <a:ext cx="153619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C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days</a:t>
            </a:r>
            <a:endParaRPr lang="en-US" sz="2800" dirty="0"/>
          </a:p>
        </p:txBody>
      </p:sp>
      <p:sp>
        <p:nvSpPr>
          <p:cNvPr id="37" name="Text 31"/>
          <p:cNvSpPr/>
          <p:nvPr/>
        </p:nvSpPr>
        <p:spPr>
          <a:xfrm>
            <a:off x="5650992" y="3968496"/>
            <a:ext cx="1536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1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7315200" y="3218688"/>
            <a:ext cx="1536192" cy="1389888"/>
          </a:xfrm>
          <a:prstGeom prst="rect">
            <a:avLst/>
          </a:prstGeom>
          <a:solidFill>
            <a:srgbClr val="101826"/>
          </a:solidFill>
          <a:ln/>
        </p:spPr>
      </p:sp>
      <p:sp>
        <p:nvSpPr>
          <p:cNvPr id="39" name="Text 33"/>
          <p:cNvSpPr/>
          <p:nvPr/>
        </p:nvSpPr>
        <p:spPr>
          <a:xfrm>
            <a:off x="7315200" y="3310128"/>
            <a:ext cx="153619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C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40" name="Text 34"/>
          <p:cNvSpPr/>
          <p:nvPr/>
        </p:nvSpPr>
        <p:spPr>
          <a:xfrm>
            <a:off x="7315200" y="3968496"/>
            <a:ext cx="1536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· UAE · Oman</a:t>
            </a:r>
            <a:endParaRPr lang="en-US" sz="950" dirty="0"/>
          </a:p>
        </p:txBody>
      </p:sp>
      <p:sp>
        <p:nvSpPr>
          <p:cNvPr id="41" name="Shape 35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40609"/>
          </a:solidFill>
          <a:ln/>
        </p:spPr>
      </p:sp>
      <p:sp>
        <p:nvSpPr>
          <p:cNvPr id="42" name="Text 36"/>
          <p:cNvSpPr/>
          <p:nvPr/>
        </p:nvSpPr>
        <p:spPr>
          <a:xfrm>
            <a:off x="274320" y="4773168"/>
            <a:ext cx="640080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 Cyber Defence  ·  KSA PDPL Compliance Specialists</a:t>
            </a:r>
            <a:endParaRPr lang="en-US" sz="850" dirty="0"/>
          </a:p>
        </p:txBody>
      </p:sp>
      <p:sp>
        <p:nvSpPr>
          <p:cNvPr id="43" name="Text 37"/>
          <p:cNvSpPr/>
          <p:nvPr/>
        </p:nvSpPr>
        <p:spPr>
          <a:xfrm>
            <a:off x="6583680" y="4773168"/>
            <a:ext cx="237744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jupitercyberdefence.com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82030"/>
          </a:solidFill>
          <a:ln/>
        </p:spPr>
      </p:sp>
      <p:sp>
        <p:nvSpPr>
          <p:cNvPr id="3" name="Shape 1"/>
          <p:cNvSpPr/>
          <p:nvPr/>
        </p:nvSpPr>
        <p:spPr>
          <a:xfrm>
            <a:off x="246888" y="182880"/>
            <a:ext cx="2494483" cy="246888"/>
          </a:xfrm>
          <a:prstGeom prst="rect">
            <a:avLst>
              <a:gd name="adj" fmla="val 11111"/>
            </a:avLst>
          </a:prstGeom>
          <a:solidFill>
            <a:srgbClr val="B82030"/>
          </a:solidFill>
          <a:ln/>
        </p:spPr>
      </p:sp>
      <p:sp>
        <p:nvSpPr>
          <p:cNvPr id="4" name="Text 2"/>
          <p:cNvSpPr/>
          <p:nvPr/>
        </p:nvSpPr>
        <p:spPr>
          <a:xfrm>
            <a:off x="246888" y="182880"/>
            <a:ext cx="249448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SECTORS IN KSA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46888" y="5486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industries face the greatest PDPL exposure?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201168" y="1225296"/>
            <a:ext cx="8741664" cy="640080"/>
          </a:xfrm>
          <a:prstGeom prst="rect">
            <a:avLst/>
          </a:prstGeom>
          <a:solidFill>
            <a:srgbClr val="101826"/>
          </a:solidFill>
          <a:ln/>
        </p:spPr>
      </p:sp>
      <p:sp>
        <p:nvSpPr>
          <p:cNvPr id="7" name="Shape 5"/>
          <p:cNvSpPr/>
          <p:nvPr/>
        </p:nvSpPr>
        <p:spPr>
          <a:xfrm>
            <a:off x="310896" y="1335024"/>
            <a:ext cx="420624" cy="420624"/>
          </a:xfrm>
          <a:prstGeom prst="oval">
            <a:avLst/>
          </a:prstGeom>
          <a:solidFill>
            <a:srgbClr val="C05810">
              <a:alpha val="75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138074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128016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&amp; Retail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4672" y="153619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التجارة الإلكترونية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816352" y="1389888"/>
            <a:ext cx="777240" cy="274320"/>
          </a:xfrm>
          <a:prstGeom prst="rect">
            <a:avLst>
              <a:gd name="adj" fmla="val 10000"/>
            </a:avLst>
          </a:prstGeom>
          <a:solidFill>
            <a:srgbClr val="C05810"/>
          </a:solidFill>
          <a:ln/>
        </p:spPr>
      </p:sp>
      <p:sp>
        <p:nvSpPr>
          <p:cNvPr id="12" name="Text 9"/>
          <p:cNvSpPr/>
          <p:nvPr/>
        </p:nvSpPr>
        <p:spPr>
          <a:xfrm>
            <a:off x="2816352" y="13898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749040" y="131673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PII, payment data, purchase history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92240" y="1316736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consumer data — primary SDAIA target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01168" y="1956816"/>
            <a:ext cx="8741664" cy="640080"/>
          </a:xfrm>
          <a:prstGeom prst="rect">
            <a:avLst/>
          </a:prstGeom>
          <a:solidFill>
            <a:srgbClr val="141E30"/>
          </a:solidFill>
          <a:ln/>
        </p:spPr>
      </p:sp>
      <p:sp>
        <p:nvSpPr>
          <p:cNvPr id="16" name="Shape 13"/>
          <p:cNvSpPr/>
          <p:nvPr/>
        </p:nvSpPr>
        <p:spPr>
          <a:xfrm>
            <a:off x="310896" y="2066544"/>
            <a:ext cx="420624" cy="420624"/>
          </a:xfrm>
          <a:prstGeom prst="oval">
            <a:avLst/>
          </a:prstGeom>
          <a:solidFill>
            <a:srgbClr val="B82030">
              <a:alpha val="75000"/>
            </a:srgbClr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2112264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04672" y="20116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Clinics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804672" y="226771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الرعاية الصحية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2816352" y="2121408"/>
            <a:ext cx="777240" cy="274320"/>
          </a:xfrm>
          <a:prstGeom prst="rect">
            <a:avLst>
              <a:gd name="adj" fmla="val 10000"/>
            </a:avLst>
          </a:prstGeom>
          <a:solidFill>
            <a:srgbClr val="B82030"/>
          </a:solidFill>
          <a:ln/>
        </p:spPr>
      </p:sp>
      <p:sp>
        <p:nvSpPr>
          <p:cNvPr id="21" name="Text 17"/>
          <p:cNvSpPr/>
          <p:nvPr/>
        </p:nvSpPr>
        <p:spPr>
          <a:xfrm>
            <a:off x="2816352" y="21214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3749040" y="204825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records, diagnostic data (sensitive)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492240" y="2048256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consent + special controls required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201168" y="2688336"/>
            <a:ext cx="8741664" cy="640080"/>
          </a:xfrm>
          <a:prstGeom prst="rect">
            <a:avLst/>
          </a:prstGeom>
          <a:solidFill>
            <a:srgbClr val="101826"/>
          </a:solidFill>
          <a:ln/>
        </p:spPr>
      </p:sp>
      <p:sp>
        <p:nvSpPr>
          <p:cNvPr id="25" name="Shape 21"/>
          <p:cNvSpPr/>
          <p:nvPr/>
        </p:nvSpPr>
        <p:spPr>
          <a:xfrm>
            <a:off x="310896" y="2798064"/>
            <a:ext cx="420624" cy="420624"/>
          </a:xfrm>
          <a:prstGeom prst="oval">
            <a:avLst/>
          </a:prstGeom>
          <a:solidFill>
            <a:srgbClr val="B82030">
              <a:alpha val="75000"/>
            </a:srgbClr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2843784"/>
            <a:ext cx="256032" cy="25603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04672" y="274320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804672" y="299923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الخدمات المالية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2816352" y="2852928"/>
            <a:ext cx="777240" cy="274320"/>
          </a:xfrm>
          <a:prstGeom prst="rect">
            <a:avLst>
              <a:gd name="adj" fmla="val 10000"/>
            </a:avLst>
          </a:prstGeom>
          <a:solidFill>
            <a:srgbClr val="B82030"/>
          </a:solidFill>
          <a:ln/>
        </p:spPr>
      </p:sp>
      <p:sp>
        <p:nvSpPr>
          <p:cNvPr id="30" name="Text 25"/>
          <p:cNvSpPr/>
          <p:nvPr/>
        </p:nvSpPr>
        <p:spPr>
          <a:xfrm>
            <a:off x="2816352" y="28529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31" name="Text 26"/>
          <p:cNvSpPr/>
          <p:nvPr/>
        </p:nvSpPr>
        <p:spPr>
          <a:xfrm>
            <a:off x="3749040" y="277977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KYC, account data, transaction history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6492240" y="2779776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Overlaps with SAMA; double-compliance risk</a:t>
            </a:r>
            <a:endParaRPr lang="en-US" sz="850" dirty="0"/>
          </a:p>
        </p:txBody>
      </p:sp>
      <p:sp>
        <p:nvSpPr>
          <p:cNvPr id="33" name="Shape 28"/>
          <p:cNvSpPr/>
          <p:nvPr/>
        </p:nvSpPr>
        <p:spPr>
          <a:xfrm>
            <a:off x="201168" y="3419856"/>
            <a:ext cx="8741664" cy="640080"/>
          </a:xfrm>
          <a:prstGeom prst="rect">
            <a:avLst/>
          </a:prstGeom>
          <a:solidFill>
            <a:srgbClr val="141E30"/>
          </a:solidFill>
          <a:ln/>
        </p:spPr>
      </p:sp>
      <p:sp>
        <p:nvSpPr>
          <p:cNvPr id="34" name="Shape 29"/>
          <p:cNvSpPr/>
          <p:nvPr/>
        </p:nvSpPr>
        <p:spPr>
          <a:xfrm>
            <a:off x="310896" y="3529584"/>
            <a:ext cx="420624" cy="420624"/>
          </a:xfrm>
          <a:prstGeom prst="oval">
            <a:avLst/>
          </a:prstGeom>
          <a:solidFill>
            <a:srgbClr val="C05810">
              <a:alpha val="75000"/>
            </a:srgbClr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3575304"/>
            <a:ext cx="256032" cy="256032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804672" y="347472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HR, Staffing &amp; PEO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804672" y="373075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الموارد البشرية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2816352" y="3584448"/>
            <a:ext cx="777240" cy="274320"/>
          </a:xfrm>
          <a:prstGeom prst="rect">
            <a:avLst>
              <a:gd name="adj" fmla="val 10000"/>
            </a:avLst>
          </a:prstGeom>
          <a:solidFill>
            <a:srgbClr val="C05810"/>
          </a:solidFill>
          <a:ln/>
        </p:spPr>
      </p:sp>
      <p:sp>
        <p:nvSpPr>
          <p:cNvPr id="39" name="Text 33"/>
          <p:cNvSpPr/>
          <p:nvPr/>
        </p:nvSpPr>
        <p:spPr>
          <a:xfrm>
            <a:off x="2816352" y="35844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40" name="Text 34"/>
          <p:cNvSpPr/>
          <p:nvPr/>
        </p:nvSpPr>
        <p:spPr>
          <a:xfrm>
            <a:off x="3749040" y="351129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records, CVs, national ID, salary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6492240" y="3511296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processing of sensitive personal data</a:t>
            </a:r>
            <a:endParaRPr lang="en-US" sz="850" dirty="0"/>
          </a:p>
        </p:txBody>
      </p:sp>
      <p:sp>
        <p:nvSpPr>
          <p:cNvPr id="42" name="Shape 36"/>
          <p:cNvSpPr/>
          <p:nvPr/>
        </p:nvSpPr>
        <p:spPr>
          <a:xfrm>
            <a:off x="201168" y="4151376"/>
            <a:ext cx="8741664" cy="640080"/>
          </a:xfrm>
          <a:prstGeom prst="rect">
            <a:avLst/>
          </a:prstGeom>
          <a:solidFill>
            <a:srgbClr val="101826"/>
          </a:solidFill>
          <a:ln/>
        </p:spPr>
      </p:sp>
      <p:sp>
        <p:nvSpPr>
          <p:cNvPr id="43" name="Shape 37"/>
          <p:cNvSpPr/>
          <p:nvPr/>
        </p:nvSpPr>
        <p:spPr>
          <a:xfrm>
            <a:off x="310896" y="4261104"/>
            <a:ext cx="420624" cy="420624"/>
          </a:xfrm>
          <a:prstGeom prst="oval">
            <a:avLst/>
          </a:prstGeom>
          <a:solidFill>
            <a:srgbClr val="C89B3C">
              <a:alpha val="75000"/>
            </a:srgbClr>
          </a:solidFill>
          <a:ln/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4306824"/>
            <a:ext cx="256032" cy="256032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804672" y="420624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&amp; PropTech</a:t>
            </a:r>
            <a:endParaRPr lang="en-US" sz="1100" dirty="0"/>
          </a:p>
        </p:txBody>
      </p:sp>
      <p:sp>
        <p:nvSpPr>
          <p:cNvPr id="46" name="Text 39"/>
          <p:cNvSpPr/>
          <p:nvPr/>
        </p:nvSpPr>
        <p:spPr>
          <a:xfrm>
            <a:off x="804672" y="446227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العقارات</a:t>
            </a:r>
            <a:endParaRPr lang="en-US" sz="1000" dirty="0"/>
          </a:p>
        </p:txBody>
      </p:sp>
      <p:sp>
        <p:nvSpPr>
          <p:cNvPr id="47" name="Shape 40"/>
          <p:cNvSpPr/>
          <p:nvPr/>
        </p:nvSpPr>
        <p:spPr>
          <a:xfrm>
            <a:off x="2816352" y="4315968"/>
            <a:ext cx="777240" cy="274320"/>
          </a:xfrm>
          <a:prstGeom prst="rect">
            <a:avLst>
              <a:gd name="adj" fmla="val 10000"/>
            </a:avLst>
          </a:prstGeom>
          <a:solidFill>
            <a:srgbClr val="C89B3C"/>
          </a:solidFill>
          <a:ln/>
        </p:spPr>
      </p:sp>
      <p:sp>
        <p:nvSpPr>
          <p:cNvPr id="48" name="Text 41"/>
          <p:cNvSpPr/>
          <p:nvPr/>
        </p:nvSpPr>
        <p:spPr>
          <a:xfrm>
            <a:off x="2816352" y="43159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49" name="Text 42"/>
          <p:cNvSpPr/>
          <p:nvPr/>
        </p:nvSpPr>
        <p:spPr>
          <a:xfrm>
            <a:off x="3749040" y="424281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copies, financial documents, contacts</a:t>
            </a:r>
            <a:endParaRPr lang="en-US" sz="900" dirty="0"/>
          </a:p>
        </p:txBody>
      </p:sp>
      <p:sp>
        <p:nvSpPr>
          <p:cNvPr id="50" name="Text 43"/>
          <p:cNvSpPr/>
          <p:nvPr/>
        </p:nvSpPr>
        <p:spPr>
          <a:xfrm>
            <a:off x="6492240" y="4242816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collection with limited controls</a:t>
            </a:r>
            <a:endParaRPr lang="en-US" sz="850" dirty="0"/>
          </a:p>
        </p:txBody>
      </p:sp>
      <p:sp>
        <p:nvSpPr>
          <p:cNvPr id="51" name="Text 44"/>
          <p:cNvSpPr/>
          <p:nvPr/>
        </p:nvSpPr>
        <p:spPr>
          <a:xfrm>
            <a:off x="804672" y="104241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750" dirty="0"/>
          </a:p>
        </p:txBody>
      </p:sp>
      <p:sp>
        <p:nvSpPr>
          <p:cNvPr id="52" name="Text 45"/>
          <p:cNvSpPr/>
          <p:nvPr/>
        </p:nvSpPr>
        <p:spPr>
          <a:xfrm>
            <a:off x="2816352" y="1042416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50" dirty="0"/>
          </a:p>
        </p:txBody>
      </p:sp>
      <p:sp>
        <p:nvSpPr>
          <p:cNvPr id="53" name="Text 46"/>
          <p:cNvSpPr/>
          <p:nvPr/>
        </p:nvSpPr>
        <p:spPr>
          <a:xfrm>
            <a:off x="3749040" y="1042416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PROCESSED</a:t>
            </a:r>
            <a:endParaRPr lang="en-US" sz="750" dirty="0"/>
          </a:p>
        </p:txBody>
      </p:sp>
      <p:sp>
        <p:nvSpPr>
          <p:cNvPr id="54" name="Text 47"/>
          <p:cNvSpPr/>
          <p:nvPr/>
        </p:nvSpPr>
        <p:spPr>
          <a:xfrm>
            <a:off x="6492240" y="1042416"/>
            <a:ext cx="23408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EXPOSURE</a:t>
            </a:r>
            <a:endParaRPr lang="en-US" sz="750" dirty="0"/>
          </a:p>
        </p:txBody>
      </p:sp>
      <p:sp>
        <p:nvSpPr>
          <p:cNvPr id="55" name="Shape 48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40609"/>
          </a:solidFill>
          <a:ln/>
        </p:spPr>
      </p:sp>
      <p:sp>
        <p:nvSpPr>
          <p:cNvPr id="56" name="Text 49"/>
          <p:cNvSpPr/>
          <p:nvPr/>
        </p:nvSpPr>
        <p:spPr>
          <a:xfrm>
            <a:off x="274320" y="4773168"/>
            <a:ext cx="640080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 Cyber Defence  ·  KSA PDPL Compliance Specialists</a:t>
            </a:r>
            <a:endParaRPr lang="en-US" sz="850" dirty="0"/>
          </a:p>
        </p:txBody>
      </p:sp>
      <p:sp>
        <p:nvSpPr>
          <p:cNvPr id="57" name="Text 50"/>
          <p:cNvSpPr/>
          <p:nvPr/>
        </p:nvSpPr>
        <p:spPr>
          <a:xfrm>
            <a:off x="6583680" y="4773168"/>
            <a:ext cx="237744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jupitercyberdefence.com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E9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0C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" y="164592"/>
            <a:ext cx="1873606" cy="246888"/>
          </a:xfrm>
          <a:prstGeom prst="rect">
            <a:avLst>
              <a:gd name="adj" fmla="val 11111"/>
            </a:avLst>
          </a:prstGeom>
          <a:solidFill>
            <a:srgbClr val="080C18"/>
          </a:solidFill>
          <a:ln/>
        </p:spPr>
      </p:sp>
      <p:sp>
        <p:nvSpPr>
          <p:cNvPr id="5" name="Text 3"/>
          <p:cNvSpPr/>
          <p:nvPr/>
        </p:nvSpPr>
        <p:spPr>
          <a:xfrm>
            <a:off x="219456" y="164592"/>
            <a:ext cx="187360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AUDIT PROCESS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19456" y="5029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0C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phases — from scoping to your PDPL roadmap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2633472"/>
            <a:ext cx="7498080" cy="36576"/>
          </a:xfrm>
          <a:prstGeom prst="rect">
            <a:avLst/>
          </a:prstGeom>
          <a:solidFill>
            <a:srgbClr val="C8D0E0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1261872"/>
            <a:ext cx="694944" cy="694944"/>
          </a:xfrm>
          <a:prstGeom prst="oval">
            <a:avLst/>
          </a:prstGeom>
          <a:solidFill>
            <a:srgbClr val="1050A8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1261872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" y="2066544"/>
            <a:ext cx="1207008" cy="603504"/>
          </a:xfrm>
          <a:prstGeom prst="rect">
            <a:avLst/>
          </a:prstGeom>
          <a:solidFill>
            <a:srgbClr val="1050A8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112264"/>
            <a:ext cx="402336" cy="40233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93776" y="2779776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التحضير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93776" y="3072384"/>
            <a:ext cx="1426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8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Scoping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93776" y="3511296"/>
            <a:ext cx="142646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mapping,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inventory,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interviews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596896" y="1261872"/>
            <a:ext cx="694944" cy="694944"/>
          </a:xfrm>
          <a:prstGeom prst="oval">
            <a:avLst/>
          </a:prstGeom>
          <a:solidFill>
            <a:srgbClr val="C89B3C"/>
          </a:solidFill>
          <a:ln/>
        </p:spPr>
      </p:sp>
      <p:sp>
        <p:nvSpPr>
          <p:cNvPr id="16" name="Text 13"/>
          <p:cNvSpPr/>
          <p:nvPr/>
        </p:nvSpPr>
        <p:spPr>
          <a:xfrm>
            <a:off x="2596896" y="1261872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340864" y="2066544"/>
            <a:ext cx="1207008" cy="603504"/>
          </a:xfrm>
          <a:prstGeom prst="rect">
            <a:avLst/>
          </a:prstGeom>
          <a:solidFill>
            <a:srgbClr val="A07820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912" y="2112264"/>
            <a:ext cx="402336" cy="40233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231136" y="2779776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تحليل الفجوات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2231136" y="3072384"/>
            <a:ext cx="1426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8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2231136" y="3511296"/>
            <a:ext cx="142646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review vs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PDPL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4334256" y="1261872"/>
            <a:ext cx="694944" cy="694944"/>
          </a:xfrm>
          <a:prstGeom prst="oval">
            <a:avLst/>
          </a:prstGeom>
          <a:solidFill>
            <a:srgbClr val="1050A8"/>
          </a:solidFill>
          <a:ln/>
        </p:spPr>
      </p:sp>
      <p:sp>
        <p:nvSpPr>
          <p:cNvPr id="23" name="Text 19"/>
          <p:cNvSpPr/>
          <p:nvPr/>
        </p:nvSpPr>
        <p:spPr>
          <a:xfrm>
            <a:off x="4334256" y="1261872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4078224" y="2066544"/>
            <a:ext cx="1207008" cy="603504"/>
          </a:xfrm>
          <a:prstGeom prst="rect">
            <a:avLst/>
          </a:prstGeom>
          <a:solidFill>
            <a:srgbClr val="1050A8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2112264"/>
            <a:ext cx="402336" cy="40233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968496" y="2779776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الفحص التقني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3968496" y="3072384"/>
            <a:ext cx="1426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8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3968496" y="3511296"/>
            <a:ext cx="142646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 scan, website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check, access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audit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6071616" y="1261872"/>
            <a:ext cx="694944" cy="694944"/>
          </a:xfrm>
          <a:prstGeom prst="oval">
            <a:avLst/>
          </a:prstGeom>
          <a:solidFill>
            <a:srgbClr val="C89B3C"/>
          </a:solidFill>
          <a:ln/>
        </p:spPr>
      </p:sp>
      <p:sp>
        <p:nvSpPr>
          <p:cNvPr id="30" name="Text 25"/>
          <p:cNvSpPr/>
          <p:nvPr/>
        </p:nvSpPr>
        <p:spPr>
          <a:xfrm>
            <a:off x="6071616" y="1261872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5815584" y="2066544"/>
            <a:ext cx="1207008" cy="603504"/>
          </a:xfrm>
          <a:prstGeom prst="rect">
            <a:avLst/>
          </a:prstGeom>
          <a:solidFill>
            <a:srgbClr val="A07820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2112264"/>
            <a:ext cx="402336" cy="402336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705856" y="2779776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التقرير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5705856" y="3072384"/>
            <a:ext cx="1426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8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5705856" y="3511296"/>
            <a:ext cx="142646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+ English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with risk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&amp; evidence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7808976" y="1261872"/>
            <a:ext cx="694944" cy="694944"/>
          </a:xfrm>
          <a:prstGeom prst="oval">
            <a:avLst/>
          </a:prstGeom>
          <a:solidFill>
            <a:srgbClr val="1050A8"/>
          </a:solidFill>
          <a:ln/>
        </p:spPr>
      </p:sp>
      <p:sp>
        <p:nvSpPr>
          <p:cNvPr id="37" name="Text 31"/>
          <p:cNvSpPr/>
          <p:nvPr/>
        </p:nvSpPr>
        <p:spPr>
          <a:xfrm>
            <a:off x="7808976" y="1261872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38" name="Shape 32"/>
          <p:cNvSpPr/>
          <p:nvPr/>
        </p:nvSpPr>
        <p:spPr>
          <a:xfrm>
            <a:off x="7552944" y="2066544"/>
            <a:ext cx="1207008" cy="603504"/>
          </a:xfrm>
          <a:prstGeom prst="rect">
            <a:avLst/>
          </a:prstGeom>
          <a:solidFill>
            <a:srgbClr val="1050A8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6992" y="2112264"/>
            <a:ext cx="402336" cy="402336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443216" y="2779776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خارطة الطريق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7443216" y="3072384"/>
            <a:ext cx="1426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8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50" dirty="0"/>
          </a:p>
        </p:txBody>
      </p:sp>
      <p:sp>
        <p:nvSpPr>
          <p:cNvPr id="42" name="Text 35"/>
          <p:cNvSpPr/>
          <p:nvPr/>
        </p:nvSpPr>
        <p:spPr>
          <a:xfrm>
            <a:off x="7443216" y="3511296"/>
            <a:ext cx="142646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plan with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ownership, priorities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deadlines</a:t>
            </a:r>
            <a:endParaRPr lang="en-US" sz="850" dirty="0"/>
          </a:p>
        </p:txBody>
      </p:sp>
      <p:sp>
        <p:nvSpPr>
          <p:cNvPr id="43" name="Shape 36"/>
          <p:cNvSpPr/>
          <p:nvPr/>
        </p:nvSpPr>
        <p:spPr>
          <a:xfrm>
            <a:off x="219456" y="4315968"/>
            <a:ext cx="8705088" cy="347472"/>
          </a:xfrm>
          <a:prstGeom prst="rect">
            <a:avLst/>
          </a:prstGeom>
          <a:solidFill>
            <a:srgbClr val="080C18"/>
          </a:solidFill>
          <a:ln/>
        </p:spPr>
      </p:sp>
      <p:sp>
        <p:nvSpPr>
          <p:cNvPr id="44" name="Text 37"/>
          <p:cNvSpPr/>
          <p:nvPr/>
        </p:nvSpPr>
        <p:spPr>
          <a:xfrm>
            <a:off x="274320" y="43159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1: 5 days  ·  Package 2: 2–3 weeks  ·  Package 3: 6–8 weeks  ·  All deliverables in Arabic and English</a:t>
            </a:r>
            <a:endParaRPr lang="en-US" sz="950" dirty="0"/>
          </a:p>
        </p:txBody>
      </p:sp>
      <p:sp>
        <p:nvSpPr>
          <p:cNvPr id="45" name="Shape 38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C1530"/>
          </a:solidFill>
          <a:ln/>
        </p:spPr>
      </p:sp>
      <p:sp>
        <p:nvSpPr>
          <p:cNvPr id="46" name="Text 39"/>
          <p:cNvSpPr/>
          <p:nvPr/>
        </p:nvSpPr>
        <p:spPr>
          <a:xfrm>
            <a:off x="274320" y="4773168"/>
            <a:ext cx="640080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 Cyber Defence  ·  KSA PDPL Compliance Specialists</a:t>
            </a:r>
            <a:endParaRPr lang="en-US" sz="850" dirty="0"/>
          </a:p>
        </p:txBody>
      </p:sp>
      <p:sp>
        <p:nvSpPr>
          <p:cNvPr id="47" name="Text 40"/>
          <p:cNvSpPr/>
          <p:nvPr/>
        </p:nvSpPr>
        <p:spPr>
          <a:xfrm>
            <a:off x="6583680" y="4773168"/>
            <a:ext cx="237744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jupitercyberdefence.com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3" name="Shape 1"/>
          <p:cNvSpPr/>
          <p:nvPr/>
        </p:nvSpPr>
        <p:spPr>
          <a:xfrm>
            <a:off x="246888" y="182880"/>
            <a:ext cx="1873606" cy="246888"/>
          </a:xfrm>
          <a:prstGeom prst="rect">
            <a:avLst>
              <a:gd name="adj" fmla="val 11111"/>
            </a:avLst>
          </a:prstGeom>
          <a:solidFill>
            <a:srgbClr val="C89B3C"/>
          </a:solidFill>
          <a:ln/>
        </p:spPr>
      </p:sp>
      <p:sp>
        <p:nvSpPr>
          <p:cNvPr id="4" name="Text 2"/>
          <p:cNvSpPr/>
          <p:nvPr/>
        </p:nvSpPr>
        <p:spPr>
          <a:xfrm>
            <a:off x="246888" y="182880"/>
            <a:ext cx="187360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8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46888" y="5486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cost vs. the cost of non-compliance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46888" y="1152144"/>
            <a:ext cx="4023360" cy="3401568"/>
          </a:xfrm>
          <a:prstGeom prst="rect">
            <a:avLst/>
          </a:prstGeom>
          <a:solidFill>
            <a:srgbClr val="101826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46888" y="1152144"/>
            <a:ext cx="4023360" cy="438912"/>
          </a:xfrm>
          <a:prstGeom prst="rect">
            <a:avLst/>
          </a:prstGeom>
          <a:solidFill>
            <a:srgbClr val="1050A8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" y="1152144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COMPLIANCE AUDIT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8328" y="1719072"/>
            <a:ext cx="3840480" cy="566928"/>
          </a:xfrm>
          <a:prstGeom prst="rect">
            <a:avLst/>
          </a:prstGeom>
          <a:solidFill>
            <a:srgbClr val="141E3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19072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1 — Readiness Scan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98064" y="1719072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0C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15,000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8328" y="2377440"/>
            <a:ext cx="3840480" cy="566928"/>
          </a:xfrm>
          <a:prstGeom prst="rect">
            <a:avLst/>
          </a:prstGeom>
          <a:solidFill>
            <a:srgbClr val="10182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37744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2 — Full PDPL Audit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98064" y="237744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0C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35,000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8328" y="3035808"/>
            <a:ext cx="3840480" cy="566928"/>
          </a:xfrm>
          <a:prstGeom prst="rect">
            <a:avLst/>
          </a:prstGeom>
          <a:solidFill>
            <a:srgbClr val="141E3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03580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3 — Audit + Remediation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98064" y="3035808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0C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70,000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8328" y="3694176"/>
            <a:ext cx="3840480" cy="566928"/>
          </a:xfrm>
          <a:prstGeom prst="rect">
            <a:avLst/>
          </a:prstGeom>
          <a:solidFill>
            <a:srgbClr val="101826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694176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Retainer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98064" y="3694176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0C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18,000/yr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34256" y="2340864"/>
            <a:ext cx="512064" cy="512064"/>
          </a:xfrm>
          <a:prstGeom prst="oval">
            <a:avLst/>
          </a:prstGeom>
          <a:solidFill>
            <a:srgbClr val="C89B3C"/>
          </a:solidFill>
          <a:ln/>
        </p:spPr>
      </p:sp>
      <p:sp>
        <p:nvSpPr>
          <p:cNvPr id="22" name="Text 20"/>
          <p:cNvSpPr/>
          <p:nvPr/>
        </p:nvSpPr>
        <p:spPr>
          <a:xfrm>
            <a:off x="4334256" y="23408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C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1152144"/>
            <a:ext cx="4005072" cy="3401568"/>
          </a:xfrm>
          <a:prstGeom prst="rect">
            <a:avLst/>
          </a:prstGeom>
          <a:solidFill>
            <a:srgbClr val="101826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37760" y="1152144"/>
            <a:ext cx="4005072" cy="438912"/>
          </a:xfrm>
          <a:prstGeom prst="rect">
            <a:avLst/>
          </a:prstGeom>
          <a:solidFill>
            <a:srgbClr val="B82030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1152144"/>
            <a:ext cx="40050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NON-COMPLIANCE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0" y="1719072"/>
            <a:ext cx="3822192" cy="566928"/>
          </a:xfrm>
          <a:prstGeom prst="rect">
            <a:avLst/>
          </a:prstGeom>
          <a:solidFill>
            <a:srgbClr val="1A0808"/>
          </a:solidFill>
          <a:ln/>
        </p:spPr>
      </p:sp>
      <p:sp>
        <p:nvSpPr>
          <p:cNvPr id="27" name="Text 25"/>
          <p:cNvSpPr/>
          <p:nvPr/>
        </p:nvSpPr>
        <p:spPr>
          <a:xfrm>
            <a:off x="5157216" y="171907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SDAIA fine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388352" y="1719072"/>
            <a:ext cx="1444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2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5,000,000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0" y="2377440"/>
            <a:ext cx="3822192" cy="566928"/>
          </a:xfrm>
          <a:prstGeom prst="rect">
            <a:avLst/>
          </a:prstGeom>
          <a:solidFill>
            <a:srgbClr val="140606"/>
          </a:solidFill>
          <a:ln/>
        </p:spPr>
      </p:sp>
      <p:sp>
        <p:nvSpPr>
          <p:cNvPr id="30" name="Text 28"/>
          <p:cNvSpPr/>
          <p:nvPr/>
        </p:nvSpPr>
        <p:spPr>
          <a:xfrm>
            <a:off x="5157216" y="237744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breach remediation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388352" y="2377440"/>
            <a:ext cx="1444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2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720,000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0" y="3035808"/>
            <a:ext cx="3822192" cy="566928"/>
          </a:xfrm>
          <a:prstGeom prst="rect">
            <a:avLst/>
          </a:prstGeom>
          <a:solidFill>
            <a:srgbClr val="1A0808"/>
          </a:solidFill>
          <a:ln/>
        </p:spPr>
      </p:sp>
      <p:sp>
        <p:nvSpPr>
          <p:cNvPr id="33" name="Text 31"/>
          <p:cNvSpPr/>
          <p:nvPr/>
        </p:nvSpPr>
        <p:spPr>
          <a:xfrm>
            <a:off x="5157216" y="303580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contract exclusion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388352" y="3035808"/>
            <a:ext cx="1444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2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Potentially permanent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0" y="3694176"/>
            <a:ext cx="3822192" cy="566928"/>
          </a:xfrm>
          <a:prstGeom prst="rect">
            <a:avLst/>
          </a:prstGeom>
          <a:solidFill>
            <a:srgbClr val="140606"/>
          </a:solidFill>
          <a:ln/>
        </p:spPr>
      </p:sp>
      <p:sp>
        <p:nvSpPr>
          <p:cNvPr id="36" name="Text 34"/>
          <p:cNvSpPr/>
          <p:nvPr/>
        </p:nvSpPr>
        <p:spPr>
          <a:xfrm>
            <a:off x="5157216" y="369417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Reputational damage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388352" y="3694176"/>
            <a:ext cx="1444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2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Unquantifiable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46888" y="4663440"/>
            <a:ext cx="8705088" cy="347472"/>
          </a:xfrm>
          <a:prstGeom prst="rect">
            <a:avLst/>
          </a:prstGeom>
          <a:solidFill>
            <a:srgbClr val="1050A8"/>
          </a:solidFill>
          <a:ln/>
        </p:spPr>
      </p:sp>
      <p:sp>
        <p:nvSpPr>
          <p:cNvPr id="39" name="Text 37"/>
          <p:cNvSpPr/>
          <p:nvPr/>
        </p:nvSpPr>
        <p:spPr>
          <a:xfrm>
            <a:off x="320040" y="4663440"/>
            <a:ext cx="8558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2 at SAR 35,000 = just 0.7% of the maximum SAR 5,000,000 PDPL fine — one of the highest-ROI decisions a Saudi SME can make.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40609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4773168"/>
            <a:ext cx="640080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 Cyber Defence  ·  KSA PDPL Compliance Specialists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583680" y="4773168"/>
            <a:ext cx="237744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jupitercyberdefence.com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0"/>
            <a:ext cx="3017520" cy="5143500"/>
          </a:xfrm>
          <a:prstGeom prst="rect">
            <a:avLst/>
          </a:prstGeom>
          <a:solidFill>
            <a:srgbClr val="0C1530">
              <a:alpha val="5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1050A8">
              <a:alpha val="5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C89B3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" y="0"/>
            <a:ext cx="64008" cy="5143500"/>
          </a:xfrm>
          <a:prstGeom prst="rect">
            <a:avLst/>
          </a:prstGeom>
          <a:solidFill>
            <a:srgbClr val="1A6ED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822960"/>
            <a:ext cx="1920240" cy="1920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25603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الخطوات التالية  ·  NEXT STEPS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74320" y="594360"/>
            <a:ext cx="566928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Begin your PDPL</a:t>
            </a:r>
            <a:endParaRPr lang="en-US" sz="3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journey</a:t>
            </a:r>
            <a:endParaRPr lang="en-US" sz="3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today.</a:t>
            </a:r>
            <a:endParaRPr lang="en-US" sz="3300" dirty="0"/>
          </a:p>
        </p:txBody>
      </p:sp>
      <p:sp>
        <p:nvSpPr>
          <p:cNvPr id="10" name="Shape 7"/>
          <p:cNvSpPr/>
          <p:nvPr/>
        </p:nvSpPr>
        <p:spPr>
          <a:xfrm>
            <a:off x="274320" y="2029968"/>
            <a:ext cx="1645920" cy="45720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11" name="Shape 8"/>
          <p:cNvSpPr/>
          <p:nvPr/>
        </p:nvSpPr>
        <p:spPr>
          <a:xfrm>
            <a:off x="274320" y="2267712"/>
            <a:ext cx="384048" cy="384048"/>
          </a:xfrm>
          <a:prstGeom prst="oval">
            <a:avLst/>
          </a:prstGeom>
          <a:solidFill>
            <a:srgbClr val="C89B3C"/>
          </a:solidFill>
          <a:ln/>
        </p:spPr>
      </p:sp>
      <p:sp>
        <p:nvSpPr>
          <p:cNvPr id="12" name="Text 9"/>
          <p:cNvSpPr/>
          <p:nvPr/>
        </p:nvSpPr>
        <p:spPr>
          <a:xfrm>
            <a:off x="274320" y="22677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C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68096" y="217627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30-min discovery call — بدون رسوم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68096" y="2450592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assess your PDPL situation and recommend the right package for your business.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74320" y="2907792"/>
            <a:ext cx="384048" cy="384048"/>
          </a:xfrm>
          <a:prstGeom prst="oval">
            <a:avLst/>
          </a:prstGeom>
          <a:solidFill>
            <a:srgbClr val="C89B3C"/>
          </a:solidFill>
          <a:ln/>
        </p:spPr>
      </p:sp>
      <p:sp>
        <p:nvSpPr>
          <p:cNvPr id="16" name="Text 13"/>
          <p:cNvSpPr/>
          <p:nvPr/>
        </p:nvSpPr>
        <p:spPr>
          <a:xfrm>
            <a:off x="274320" y="2907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C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68096" y="281635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SAR proposal within 48 hours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68096" y="3090672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price — no hourly billing, no hidden costs, no surprises.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74320" y="3547872"/>
            <a:ext cx="384048" cy="384048"/>
          </a:xfrm>
          <a:prstGeom prst="oval">
            <a:avLst/>
          </a:prstGeom>
          <a:solidFill>
            <a:srgbClr val="C89B3C"/>
          </a:solidFill>
          <a:ln/>
        </p:spPr>
      </p:sp>
      <p:sp>
        <p:nvSpPr>
          <p:cNvPr id="20" name="Text 17"/>
          <p:cNvSpPr/>
          <p:nvPr/>
        </p:nvSpPr>
        <p:spPr>
          <a:xfrm>
            <a:off x="274320" y="3547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C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68096" y="345643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Fieldwork starts within one week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68096" y="3730752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disruption. We work around your team's schedule.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274320" y="4187952"/>
            <a:ext cx="384048" cy="384048"/>
          </a:xfrm>
          <a:prstGeom prst="oval">
            <a:avLst/>
          </a:prstGeom>
          <a:solidFill>
            <a:srgbClr val="C89B3C"/>
          </a:solidFill>
          <a:ln/>
        </p:spPr>
      </p:sp>
      <p:sp>
        <p:nvSpPr>
          <p:cNvPr id="24" name="Text 21"/>
          <p:cNvSpPr/>
          <p:nvPr/>
        </p:nvSpPr>
        <p:spPr>
          <a:xfrm>
            <a:off x="274320" y="41879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C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68096" y="409651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your Arabic + English audit report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68096" y="4370832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clear, prioritised PDPL roadmap your team can act on immediately.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274320" y="4590288"/>
            <a:ext cx="5760720" cy="438912"/>
          </a:xfrm>
          <a:prstGeom prst="rect">
            <a:avLst/>
          </a:prstGeom>
          <a:solidFill>
            <a:srgbClr val="141E30"/>
          </a:solidFill>
          <a:ln/>
        </p:spPr>
      </p:sp>
      <p:sp>
        <p:nvSpPr>
          <p:cNvPr id="28" name="Shape 25"/>
          <p:cNvSpPr/>
          <p:nvPr/>
        </p:nvSpPr>
        <p:spPr>
          <a:xfrm>
            <a:off x="274320" y="4590288"/>
            <a:ext cx="36576" cy="438912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29" name="Text 26"/>
          <p:cNvSpPr/>
          <p:nvPr/>
        </p:nvSpPr>
        <p:spPr>
          <a:xfrm>
            <a:off x="384048" y="4590288"/>
            <a:ext cx="56327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info@jupitercyberdefence.com  ·  jupitercyberdefence.com  ·  linkedin.com/company/jupiter-cyber-defence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Jupiter Cyber Defence — KSA PDPL Compliance</dc:title>
  <dc:subject>PptxGenJS Presentation</dc:subject>
  <dc:creator>PptxGenJS</dc:creator>
  <cp:lastModifiedBy>PptxGenJS</cp:lastModifiedBy>
  <cp:revision>1</cp:revision>
  <dcterms:created xsi:type="dcterms:W3CDTF">2026-03-12T14:38:08Z</dcterms:created>
  <dcterms:modified xsi:type="dcterms:W3CDTF">2026-03-12T14:38:08Z</dcterms:modified>
</cp:coreProperties>
</file>