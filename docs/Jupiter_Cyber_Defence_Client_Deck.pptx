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D0805-69EF-374A-B199-ABCF98BAE90F}" v="7" dt="2026-03-06T14:25:58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63"/>
    <p:restoredTop sz="94681"/>
  </p:normalViewPr>
  <p:slideViewPr>
    <p:cSldViewPr snapToGrid="0" snapToObjects="1">
      <p:cViewPr varScale="1">
        <p:scale>
          <a:sx n="165" d="100"/>
          <a:sy n="165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z Ahmed Syed" userId="9f24c997-3ce1-4333-ba0c-20a53b7c22bb" providerId="ADAL" clId="{BFC8C77E-4587-5470-92BB-D5437E6AF4B5}"/>
    <pc:docChg chg="undo redo custSel mod modSld modMainMaster">
      <pc:chgData name="Moiz Ahmed Syed" userId="9f24c997-3ce1-4333-ba0c-20a53b7c22bb" providerId="ADAL" clId="{BFC8C77E-4587-5470-92BB-D5437E6AF4B5}" dt="2026-03-06T14:25:58.210" v="34"/>
      <pc:docMkLst>
        <pc:docMk/>
      </pc:docMkLst>
      <pc:sldChg chg="addSp delSp modSp mod">
        <pc:chgData name="Moiz Ahmed Syed" userId="9f24c997-3ce1-4333-ba0c-20a53b7c22bb" providerId="ADAL" clId="{BFC8C77E-4587-5470-92BB-D5437E6AF4B5}" dt="2026-03-06T14:25:23.410" v="22" actId="1076"/>
        <pc:sldMkLst>
          <pc:docMk/>
          <pc:sldMk cId="0" sldId="256"/>
        </pc:sldMkLst>
        <pc:spChg chg="mod">
          <ac:chgData name="Moiz Ahmed Syed" userId="9f24c997-3ce1-4333-ba0c-20a53b7c22bb" providerId="ADAL" clId="{BFC8C77E-4587-5470-92BB-D5437E6AF4B5}" dt="2026-03-06T14:23:32.842" v="14" actId="1076"/>
          <ac:spMkLst>
            <pc:docMk/>
            <pc:sldMk cId="0" sldId="256"/>
            <ac:spMk id="4" creationId="{00000000-0000-0000-0000-000000000000}"/>
          </ac:spMkLst>
        </pc:spChg>
        <pc:picChg chg="del">
          <ac:chgData name="Moiz Ahmed Syed" userId="9f24c997-3ce1-4333-ba0c-20a53b7c22bb" providerId="ADAL" clId="{BFC8C77E-4587-5470-92BB-D5437E6AF4B5}" dt="2026-03-06T14:25:09.281" v="18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Moiz Ahmed Syed" userId="9f24c997-3ce1-4333-ba0c-20a53b7c22bb" providerId="ADAL" clId="{BFC8C77E-4587-5470-92BB-D5437E6AF4B5}" dt="2026-03-06T14:23:15.893" v="7" actId="478"/>
          <ac:picMkLst>
            <pc:docMk/>
            <pc:sldMk cId="0" sldId="256"/>
            <ac:picMk id="11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4:02.060" v="16" actId="1076"/>
          <ac:picMkLst>
            <pc:docMk/>
            <pc:sldMk cId="0" sldId="256"/>
            <ac:picMk id="14" creationId="{FADDC68B-AC52-DC16-CC83-C4E326433003}"/>
          </ac:picMkLst>
        </pc:picChg>
        <pc:picChg chg="add mod">
          <ac:chgData name="Moiz Ahmed Syed" userId="9f24c997-3ce1-4333-ba0c-20a53b7c22bb" providerId="ADAL" clId="{BFC8C77E-4587-5470-92BB-D5437E6AF4B5}" dt="2026-03-06T14:25:23.410" v="22" actId="1076"/>
          <ac:picMkLst>
            <pc:docMk/>
            <pc:sldMk cId="0" sldId="256"/>
            <ac:picMk id="15" creationId="{48381BE3-9DE7-2BE8-52C1-8532FC0DD6C4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31.649" v="24"/>
        <pc:sldMkLst>
          <pc:docMk/>
          <pc:sldMk cId="0" sldId="257"/>
        </pc:sldMkLst>
        <pc:picChg chg="del">
          <ac:chgData name="Moiz Ahmed Syed" userId="9f24c997-3ce1-4333-ba0c-20a53b7c22bb" providerId="ADAL" clId="{BFC8C77E-4587-5470-92BB-D5437E6AF4B5}" dt="2026-03-06T14:25:30.883" v="23" actId="478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31.649" v="24"/>
          <ac:picMkLst>
            <pc:docMk/>
            <pc:sldMk cId="0" sldId="257"/>
            <ac:picMk id="14" creationId="{8C9D6CC8-F3B8-FF6C-D836-8C9163D93ABE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38.871" v="26"/>
        <pc:sldMkLst>
          <pc:docMk/>
          <pc:sldMk cId="0" sldId="258"/>
        </pc:sldMkLst>
        <pc:picChg chg="del">
          <ac:chgData name="Moiz Ahmed Syed" userId="9f24c997-3ce1-4333-ba0c-20a53b7c22bb" providerId="ADAL" clId="{BFC8C77E-4587-5470-92BB-D5437E6AF4B5}" dt="2026-03-06T14:25:38.280" v="25" actId="478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38.871" v="26"/>
          <ac:picMkLst>
            <pc:docMk/>
            <pc:sldMk cId="0" sldId="258"/>
            <ac:picMk id="12" creationId="{648BA4A8-DCD8-0F4A-B5B2-8C771E666D04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43.076" v="28"/>
        <pc:sldMkLst>
          <pc:docMk/>
          <pc:sldMk cId="0" sldId="259"/>
        </pc:sldMkLst>
        <pc:picChg chg="del mod">
          <ac:chgData name="Moiz Ahmed Syed" userId="9f24c997-3ce1-4333-ba0c-20a53b7c22bb" providerId="ADAL" clId="{BFC8C77E-4587-5470-92BB-D5437E6AF4B5}" dt="2026-03-06T14:25:42.522" v="27" actId="478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43.076" v="28"/>
          <ac:picMkLst>
            <pc:docMk/>
            <pc:sldMk cId="0" sldId="259"/>
            <ac:picMk id="20" creationId="{6FE358A6-4EE7-C95B-0FEB-96E1F9637D1D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47.781" v="30"/>
        <pc:sldMkLst>
          <pc:docMk/>
          <pc:sldMk cId="0" sldId="260"/>
        </pc:sldMkLst>
        <pc:picChg chg="del">
          <ac:chgData name="Moiz Ahmed Syed" userId="9f24c997-3ce1-4333-ba0c-20a53b7c22bb" providerId="ADAL" clId="{BFC8C77E-4587-5470-92BB-D5437E6AF4B5}" dt="2026-03-06T14:25:47.277" v="29" actId="478"/>
          <ac:picMkLst>
            <pc:docMk/>
            <pc:sldMk cId="0" sldId="260"/>
            <ac:picMk id="3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47.781" v="30"/>
          <ac:picMkLst>
            <pc:docMk/>
            <pc:sldMk cId="0" sldId="260"/>
            <ac:picMk id="9" creationId="{1F91F625-935B-82A5-5DF4-2E68A4DC3C10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53.425" v="32"/>
        <pc:sldMkLst>
          <pc:docMk/>
          <pc:sldMk cId="0" sldId="261"/>
        </pc:sldMkLst>
        <pc:spChg chg="mod">
          <ac:chgData name="Moiz Ahmed Syed" userId="9f24c997-3ce1-4333-ba0c-20a53b7c22bb" providerId="ADAL" clId="{BFC8C77E-4587-5470-92BB-D5437E6AF4B5}" dt="2026-03-06T14:20:54.260" v="6" actId="1076"/>
          <ac:spMkLst>
            <pc:docMk/>
            <pc:sldMk cId="0" sldId="261"/>
            <ac:spMk id="26" creationId="{00000000-0000-0000-0000-000000000000}"/>
          </ac:spMkLst>
        </pc:spChg>
        <pc:picChg chg="del">
          <ac:chgData name="Moiz Ahmed Syed" userId="9f24c997-3ce1-4333-ba0c-20a53b7c22bb" providerId="ADAL" clId="{BFC8C77E-4587-5470-92BB-D5437E6AF4B5}" dt="2026-03-06T14:25:52.817" v="31" actId="478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53.425" v="32"/>
          <ac:picMkLst>
            <pc:docMk/>
            <pc:sldMk cId="0" sldId="261"/>
            <ac:picMk id="28" creationId="{12F7CCAA-42D6-79B7-8E4D-E52197B7B08C}"/>
          </ac:picMkLst>
        </pc:picChg>
      </pc:sldChg>
      <pc:sldChg chg="addSp delSp modSp mod">
        <pc:chgData name="Moiz Ahmed Syed" userId="9f24c997-3ce1-4333-ba0c-20a53b7c22bb" providerId="ADAL" clId="{BFC8C77E-4587-5470-92BB-D5437E6AF4B5}" dt="2026-03-06T14:25:58.210" v="34"/>
        <pc:sldMkLst>
          <pc:docMk/>
          <pc:sldMk cId="0" sldId="262"/>
        </pc:sldMkLst>
        <pc:picChg chg="del">
          <ac:chgData name="Moiz Ahmed Syed" userId="9f24c997-3ce1-4333-ba0c-20a53b7c22bb" providerId="ADAL" clId="{BFC8C77E-4587-5470-92BB-D5437E6AF4B5}" dt="2026-03-06T14:25:57.628" v="33" actId="478"/>
          <ac:picMkLst>
            <pc:docMk/>
            <pc:sldMk cId="0" sldId="262"/>
            <ac:picMk id="5" creationId="{00000000-0000-0000-0000-000000000000}"/>
          </ac:picMkLst>
        </pc:picChg>
        <pc:picChg chg="add mod">
          <ac:chgData name="Moiz Ahmed Syed" userId="9f24c997-3ce1-4333-ba0c-20a53b7c22bb" providerId="ADAL" clId="{BFC8C77E-4587-5470-92BB-D5437E6AF4B5}" dt="2026-03-06T14:25:58.210" v="34"/>
          <ac:picMkLst>
            <pc:docMk/>
            <pc:sldMk cId="0" sldId="262"/>
            <ac:picMk id="11" creationId="{F442997A-7DA3-486B-2C7C-3A6402615925}"/>
          </ac:picMkLst>
        </pc:picChg>
      </pc:sldChg>
      <pc:sldMasterChg chg="addSp mod">
        <pc:chgData name="Moiz Ahmed Syed" userId="9f24c997-3ce1-4333-ba0c-20a53b7c22bb" providerId="ADAL" clId="{BFC8C77E-4587-5470-92BB-D5437E6AF4B5}" dt="2026-03-06T14:11:27.401" v="0" actId="33475"/>
        <pc:sldMasterMkLst>
          <pc:docMk/>
          <pc:sldMasterMk cId="2209977519" sldId="2147483648"/>
        </pc:sldMasterMkLst>
        <pc:spChg chg="add">
          <ac:chgData name="Moiz Ahmed Syed" userId="9f24c997-3ce1-4333-ba0c-20a53b7c22bb" providerId="ADAL" clId="{BFC8C77E-4587-5470-92BB-D5437E6AF4B5}" dt="2026-03-06T14:11:27.401" v="0" actId="33475"/>
          <ac:spMkLst>
            <pc:docMk/>
            <pc:sldMasterMk cId="2209977519" sldId="2147483648"/>
            <ac:spMk id="8" creationId="{F699271E-1441-142E-8D83-2D6759DBB99E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9271E-1441-142E-8D83-2D6759DBB99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5488" y="6672580"/>
            <a:ext cx="6080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800">
                <a:solidFill>
                  <a:srgbClr val="5A5A5A">
                    <a:alpha val="50000"/>
                  </a:srgbClr>
                </a:solidFill>
                <a:latin typeface="Noto IKEA Latin" panose="020B0502040504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716022"/>
            <a:ext cx="2560320" cy="2560320"/>
          </a:xfrm>
          <a:prstGeom prst="ellipse">
            <a:avLst/>
          </a:prstGeom>
          <a:solidFill>
            <a:srgbClr val="9E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EF3FF"/>
                </a:solidFill>
              </a:rPr>
              <a:t>Jupiter Cyber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EEF3FF"/>
                </a:solidFill>
              </a:rPr>
              <a:t>Client Presentation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9C6EA"/>
                </a:solidFill>
              </a:rPr>
              <a:t>From reactive checks to continuous cyber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E3EBFF"/>
                </a:solidFill>
              </a:defRPr>
            </a:pPr>
            <a:r>
              <a:rPr>
                <a:solidFill>
                  <a:srgbClr val="E3EBFF"/>
                </a:solidFill>
              </a:rPr>
              <a:t>Clear risk visibility and prioritized remediation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E3EBFF"/>
                </a:solidFill>
              </a:defRPr>
            </a:pPr>
            <a:r>
              <a:rPr>
                <a:solidFill>
                  <a:srgbClr val="E3EBFF"/>
                </a:solidFill>
              </a:rPr>
              <a:t>Compliance mapping for GDPR, PDPL, and HIPAA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E3EBFF"/>
                </a:solidFill>
              </a:defRPr>
            </a:pPr>
            <a:r>
              <a:rPr>
                <a:solidFill>
                  <a:srgbClr val="E3EBFF"/>
                </a:solidFill>
              </a:rPr>
              <a:t>Audit-ready reporting for leadership and 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0779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64240" cy="685800"/>
          </a:xfrm>
          <a:prstGeom prst="roundRect">
            <a:avLst/>
          </a:prstGeom>
          <a:solidFill>
            <a:srgbClr val="0C1428"/>
          </a:solidFill>
          <a:ln>
            <a:solidFill>
              <a:srgbClr val="5C7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600" b="1">
                <a:solidFill>
                  <a:srgbClr val="EEF3FF"/>
                </a:solidFill>
              </a:rPr>
              <a:t>Book your free security snapshot: jupitercyberdefence.com</a:t>
            </a:r>
          </a:p>
        </p:txBody>
      </p:sp>
      <p:pic>
        <p:nvPicPr>
          <p:cNvPr id="14" name="Picture 13" descr="A blue background with a shield and text&#10;&#10;AI-generated content may be incorrect.">
            <a:extLst>
              <a:ext uri="{FF2B5EF4-FFF2-40B4-BE49-F238E27FC236}">
                <a16:creationId xmlns:a16="http://schemas.microsoft.com/office/drawing/2014/main" id="{FADDC68B-AC52-DC16-CC83-C4E32643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48" y="2055003"/>
            <a:ext cx="6157681" cy="3355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381BE3-9DE7-2BE8-52C1-8532FC0DD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92643"/>
                </a:solidFill>
              </a:rPr>
              <a:t>Jupiter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92643"/>
                </a:solidFill>
              </a:rPr>
              <a:t>Why Clients Choose Jupiter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2643"/>
                </a:solidFill>
              </a:rPr>
              <a:t>Common Security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Too many tools, unclear priorities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Limited visibility on external exposure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Compliance pressure without clear mapping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Reports that are too technical for leadership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54203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2643"/>
                </a:solidFill>
              </a:rPr>
              <a:t>What Jupiter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One clear view of risk posture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Business-prioritized remediation roadmap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Regulatory mapping with gap visibility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Executive-ready audit evidence and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3952" y="254203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9D6CC8-F3B8-FF6C-D836-8C9163D9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EF3FF"/>
                </a:solidFill>
              </a:rPr>
              <a:t>Jupiter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EF3FF"/>
                </a:solidFill>
              </a:rPr>
              <a:t>Core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440680" cy="4526280"/>
          </a:xfrm>
          <a:prstGeom prst="roundRect">
            <a:avLst/>
          </a:prstGeom>
          <a:solidFill>
            <a:srgbClr val="0F1A31"/>
          </a:solidFill>
          <a:ln>
            <a:solidFill>
              <a:srgbClr val="51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526280"/>
          </a:xfrm>
          <a:prstGeom prst="roundRect">
            <a:avLst/>
          </a:prstGeom>
          <a:solidFill>
            <a:srgbClr val="0F1A31"/>
          </a:solidFill>
          <a:ln>
            <a:solidFill>
              <a:srgbClr val="51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834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Cyber Security Posture Assessment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External Attack Surface Assessment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Continuous Risk Monitoring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Cloud Security Readiness (AWS/Azure/GCP)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Identity &amp; Access Security Review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Backup &amp; Ransomware Readiness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03911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834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Compliance Mapping (GDPR, PDPL, HIPAA)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Audit-Ready Documentation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Executive Security Reporting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Remediation Prioritization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Incident Readiness Review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Third-Party Risk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203911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BA4A8-DCD8-0F4A-B5B2-8C771E66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92643"/>
                </a:solidFill>
              </a:rPr>
              <a:t>Jupiter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92643"/>
                </a:solidFill>
              </a:rPr>
              <a:t>Compliance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7F94C0"/>
                </a:solidFill>
              </a:rPr>
              <a:t>Map controls against GDPR, PDPL, and HIPAA requirements with prioritized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09728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2331720"/>
            <a:ext cx="1097280" cy="1097280"/>
          </a:xfrm>
          <a:prstGeom prst="ellipse">
            <a:avLst/>
          </a:prstGeom>
          <a:solidFill>
            <a:srgbClr val="F5F8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D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2496312"/>
            <a:ext cx="768096" cy="76809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651760" y="2331720"/>
            <a:ext cx="1097280" cy="1097280"/>
          </a:xfrm>
          <a:prstGeom prst="ellipse">
            <a:avLst/>
          </a:prstGeom>
          <a:solidFill>
            <a:srgbClr val="F5F8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IP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2" y="2496312"/>
            <a:ext cx="768096" cy="768096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069080" y="2331720"/>
            <a:ext cx="1097280" cy="1097280"/>
          </a:xfrm>
          <a:prstGeom prst="ellipse">
            <a:avLst/>
          </a:prstGeom>
          <a:solidFill>
            <a:srgbClr val="F5F8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D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496312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3749039"/>
            <a:ext cx="49377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Control mapping and gap status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Priority remediation by impact and effort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Traceable ownership and progress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" y="3730751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80760" y="2331720"/>
            <a:ext cx="5074920" cy="3154680"/>
          </a:xfrm>
          <a:prstGeom prst="roundRect">
            <a:avLst/>
          </a:prstGeom>
          <a:solidFill>
            <a:srgbClr val="EEF3FF"/>
          </a:solidFill>
          <a:ln>
            <a:solidFill>
              <a:srgbClr val="CD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60604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92643"/>
                </a:solidFill>
              </a:rPr>
              <a:t>Audit-Ready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4526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Executive-friendly reporting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Heatmaps and action ownership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192643"/>
                </a:solidFill>
              </a:defRPr>
            </a:pPr>
            <a:r>
              <a:rPr>
                <a:solidFill>
                  <a:srgbClr val="192643"/>
                </a:solidFill>
              </a:rPr>
              <a:t>Evidence pack for audits and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304495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E358A6-4EE7-C95B-0FEB-96E1F9637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EF3FF"/>
                </a:solidFill>
              </a:rPr>
              <a:t>Jupiter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EF3FF"/>
                </a:solidFill>
              </a:rPr>
              <a:t>Package Pricing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DCAED"/>
                </a:solidFill>
              </a:rPr>
              <a:t>Indicative package ranges by country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0116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F3FF"/>
                          </a:solidFill>
                        </a:rPr>
                        <a:t>Package</a:t>
                      </a:r>
                    </a:p>
                  </a:txBody>
                  <a:tcPr>
                    <a:solidFill>
                      <a:srgbClr val="2134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F3FF"/>
                          </a:solidFill>
                        </a:rPr>
                        <a:t>Oman</a:t>
                      </a:r>
                    </a:p>
                  </a:txBody>
                  <a:tcPr>
                    <a:solidFill>
                      <a:srgbClr val="2134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F3FF"/>
                          </a:solidFill>
                        </a:rPr>
                        <a:t>UAE</a:t>
                      </a:r>
                    </a:p>
                  </a:txBody>
                  <a:tcPr>
                    <a:solidFill>
                      <a:srgbClr val="2134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F3FF"/>
                          </a:solidFill>
                        </a:rPr>
                        <a:t>KSA</a:t>
                      </a:r>
                    </a:p>
                  </a:txBody>
                  <a:tcPr>
                    <a:solidFill>
                      <a:srgbClr val="2134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F3FF"/>
                          </a:solidFill>
                        </a:rPr>
                        <a:t>EU</a:t>
                      </a:r>
                    </a:p>
                  </a:txBody>
                  <a:tcPr>
                    <a:solidFill>
                      <a:srgbClr val="2134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C4D"/>
                          </a:solidFill>
                        </a:rPr>
                        <a:t>Package 1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OMR 80–100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AED 300–500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SAR 300–500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EUR 100–150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385F"/>
                          </a:solidFill>
                        </a:rPr>
                        <a:t>Package 2</a:t>
                      </a:r>
                    </a:p>
                  </a:txBody>
                  <a:tcPr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85F"/>
                          </a:solidFill>
                        </a:rPr>
                        <a:t>OMR 200–400</a:t>
                      </a:r>
                    </a:p>
                  </a:txBody>
                  <a:tcPr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85F"/>
                          </a:solidFill>
                        </a:rPr>
                        <a:t>AED 2,000–4,000</a:t>
                      </a:r>
                    </a:p>
                  </a:txBody>
                  <a:tcPr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85F"/>
                          </a:solidFill>
                        </a:rPr>
                        <a:t>SAR 2,000–5,000</a:t>
                      </a:r>
                    </a:p>
                  </a:txBody>
                  <a:tcPr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385F"/>
                          </a:solidFill>
                        </a:rPr>
                        <a:t>EUR 500–800</a:t>
                      </a:r>
                    </a:p>
                  </a:txBody>
                  <a:tcPr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C4D"/>
                          </a:solidFill>
                        </a:rPr>
                        <a:t>Package 3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OMR 500–1,000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AED 4,500–7,500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SAR 6,000–12,000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C4D"/>
                          </a:solidFill>
                        </a:rPr>
                        <a:t>EUR 1,000–1,500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2C2E7"/>
                </a:solidFill>
              </a:rPr>
              <a:t>Packages can be tailored by asset volume, technical scope, and required reporting depth.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91F625-935B-82A5-5DF4-2E68A4DC3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92643"/>
                </a:solidFill>
              </a:rPr>
              <a:t>Jupiter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92643"/>
                </a:solidFill>
              </a:rPr>
              <a:t>How Engagement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965960"/>
            <a:ext cx="530352" cy="530352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92643"/>
                </a:solidFill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A517E"/>
                </a:solidFill>
              </a:rPr>
              <a:t>Map domains, cloud, apps, and data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965960"/>
            <a:ext cx="530352" cy="530352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11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92643"/>
                </a:solidFill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0604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A517E"/>
                </a:solidFill>
              </a:rPr>
              <a:t>Review posture, exposure, identity, and backups.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58200" y="1965960"/>
            <a:ext cx="530352" cy="530352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11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92643"/>
                </a:solidFill>
              </a:rPr>
              <a:t>Prioritize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606040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A517E"/>
                </a:solidFill>
              </a:rPr>
              <a:t>Deliver a 30–60 day remediation roadmap.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972800" cy="2103120"/>
          </a:xfrm>
          <a:prstGeom prst="roundRect">
            <a:avLst/>
          </a:prstGeom>
          <a:solidFill>
            <a:srgbClr val="0E172C"/>
          </a:solidFill>
          <a:ln>
            <a:solidFill>
              <a:srgbClr val="4C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EF3FF"/>
                </a:solidFill>
              </a:rPr>
              <a:t>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4937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Faster remediation cycles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Stronger customer and partner trust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EEF3FF"/>
                </a:solidFill>
              </a:defRPr>
            </a:pPr>
            <a:r>
              <a:rPr>
                <a:solidFill>
                  <a:srgbClr val="EEF3FF"/>
                </a:solidFill>
              </a:rPr>
              <a:t>Clear weekly risk trend visibility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" y="4873752"/>
            <a:ext cx="914" cy="914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EF3FF"/>
                </a:solidFill>
              </a:rPr>
              <a:t>Industries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892040"/>
            <a:ext cx="1234440" cy="384048"/>
          </a:xfrm>
          <a:prstGeom prst="roundRect">
            <a:avLst/>
          </a:prstGeom>
          <a:solidFill>
            <a:srgbClr val="182444"/>
          </a:solidFill>
          <a:ln>
            <a:solidFill>
              <a:srgbClr val="5D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0" dirty="0">
                <a:solidFill>
                  <a:srgbClr val="DAE5FF"/>
                </a:solidFill>
              </a:rPr>
              <a:t>Healthcare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4892040"/>
            <a:ext cx="1234440" cy="384048"/>
          </a:xfrm>
          <a:prstGeom prst="roundRect">
            <a:avLst/>
          </a:prstGeom>
          <a:solidFill>
            <a:srgbClr val="182444"/>
          </a:solidFill>
          <a:ln>
            <a:solidFill>
              <a:srgbClr val="5D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0">
                <a:solidFill>
                  <a:srgbClr val="DAE5FF"/>
                </a:solidFill>
              </a:rPr>
              <a:t>Logistics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1744" y="4892040"/>
            <a:ext cx="1234440" cy="384048"/>
          </a:xfrm>
          <a:prstGeom prst="roundRect">
            <a:avLst/>
          </a:prstGeom>
          <a:solidFill>
            <a:srgbClr val="182444"/>
          </a:solidFill>
          <a:ln>
            <a:solidFill>
              <a:srgbClr val="5D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0">
                <a:solidFill>
                  <a:srgbClr val="DAE5FF"/>
                </a:solidFill>
              </a:rPr>
              <a:t>SaaS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6156" y="5367527"/>
            <a:ext cx="1234440" cy="384048"/>
          </a:xfrm>
          <a:prstGeom prst="roundRect">
            <a:avLst/>
          </a:prstGeom>
          <a:solidFill>
            <a:srgbClr val="182444"/>
          </a:solidFill>
          <a:ln>
            <a:solidFill>
              <a:srgbClr val="5D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0" dirty="0">
                <a:solidFill>
                  <a:srgbClr val="DAE5FF"/>
                </a:solidFill>
              </a:rPr>
              <a:t>Education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5367527"/>
            <a:ext cx="1344168" cy="384048"/>
          </a:xfrm>
          <a:prstGeom prst="roundRect">
            <a:avLst/>
          </a:prstGeom>
          <a:solidFill>
            <a:srgbClr val="182444"/>
          </a:solidFill>
          <a:ln>
            <a:solidFill>
              <a:srgbClr val="5D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100" b="0">
                <a:solidFill>
                  <a:srgbClr val="DAE5FF"/>
                </a:solidFill>
              </a:rPr>
              <a:t>Professional Services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F7CCAA-42D6-79B7-8E4D-E52197B7B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05840" y="4389120"/>
            <a:ext cx="2651760" cy="265176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548640"/>
            <a:ext cx="2286000" cy="2286000"/>
          </a:xfrm>
          <a:prstGeom prst="ellipse">
            <a:avLst/>
          </a:prstGeom>
          <a:solidFill>
            <a:srgbClr val="9E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EF3FF"/>
                </a:solidFill>
              </a:rPr>
              <a:t>Jupiter Cyber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EF3FF"/>
                </a:solidFill>
              </a:rPr>
              <a:t>Book Your Free Security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DCAED"/>
                </a:solidFill>
              </a:rPr>
              <a:t>Turn security complexity into business clarity.</a:t>
            </a:r>
          </a:p>
        </p:txBody>
      </p:sp>
      <p:pic>
        <p:nvPicPr>
          <p:cNvPr id="9" name="Picture 8" descr="brand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834640"/>
            <a:ext cx="3931920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65960" y="5166360"/>
            <a:ext cx="8229600" cy="960120"/>
          </a:xfrm>
          <a:prstGeom prst="roundRect">
            <a:avLst/>
          </a:prstGeom>
          <a:solidFill>
            <a:srgbClr val="0C1428"/>
          </a:solidFill>
          <a:ln>
            <a:solidFill>
              <a:srgbClr val="61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1800" b="1">
                <a:solidFill>
                  <a:srgbClr val="EEF3FF"/>
                </a:solidFill>
              </a:rPr>
              <a:t>info@jupitercyberdefence.com  |  jupitercyberdefence.com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42997A-7DA3-486B-2C7C-3A640261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0" y="349936"/>
            <a:ext cx="454230" cy="400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5a79a5c-c4fd-4fa9-8b3c-06ef3c09de7d}" enabled="1" method="Privileged" siteId="{a33c6ac4-a52e-45c5-af07-b972df9bd0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354</Words>
  <Application>Microsoft Macintosh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Noto IKEA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Moiz Ahmed Syed</cp:lastModifiedBy>
  <cp:revision>1</cp:revision>
  <dcterms:created xsi:type="dcterms:W3CDTF">2013-01-27T09:14:16Z</dcterms:created>
  <dcterms:modified xsi:type="dcterms:W3CDTF">2026-03-06T14:26:16Z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</vt:lpwstr>
  </property>
</Properties>
</file>