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6066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0308D0-9BA0-856F-3520-A395E0D0506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281488" y="4958080"/>
            <a:ext cx="608076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E" sz="800">
                <a:solidFill>
                  <a:srgbClr val="5A5A5A">
                    <a:alpha val="50000"/>
                  </a:srgbClr>
                </a:solidFill>
                <a:latin typeface="Noto IKEA Latin" panose="020B0502040504020204" pitchFamily="34" charset="0"/>
              </a:rPr>
              <a:t>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8B1A2E">
              <a:alpha val="18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8B1A2E">
              <a:alpha val="28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8321040" y="0"/>
            <a:ext cx="822960" cy="5143500"/>
          </a:xfrm>
          <a:prstGeom prst="rect">
            <a:avLst/>
          </a:prstGeom>
          <a:solidFill>
            <a:srgbClr val="8B1A2E">
              <a:alpha val="40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" name="Shape 4"/>
          <p:cNvSpPr/>
          <p:nvPr/>
        </p:nvSpPr>
        <p:spPr>
          <a:xfrm>
            <a:off x="777240" y="658368"/>
            <a:ext cx="5303520" cy="45720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731520"/>
            <a:ext cx="2194560" cy="219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777240"/>
            <a:ext cx="5760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6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حماية البيانات الشخصية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1389888"/>
            <a:ext cx="576072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PDPL Compliance</a:t>
            </a:r>
            <a:endParaRPr lang="en-US" sz="3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for Saudi SMEs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777240" y="2816352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up to SAR 5,000,000 are active. Are you protected?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" y="3401568"/>
            <a:ext cx="1755648" cy="804672"/>
          </a:xfrm>
          <a:prstGeom prst="rect">
            <a:avLst/>
          </a:prstGeom>
          <a:solidFill>
            <a:srgbClr val="2D2D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Shape 9"/>
          <p:cNvSpPr/>
          <p:nvPr/>
        </p:nvSpPr>
        <p:spPr>
          <a:xfrm>
            <a:off x="777240" y="3401568"/>
            <a:ext cx="1755648" cy="45720"/>
          </a:xfrm>
          <a:prstGeom prst="rect">
            <a:avLst/>
          </a:prstGeom>
          <a:solidFill>
            <a:srgbClr val="C029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Text 10"/>
          <p:cNvSpPr/>
          <p:nvPr/>
        </p:nvSpPr>
        <p:spPr>
          <a:xfrm>
            <a:off x="777240" y="3456432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5M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77240" y="384048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fine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697480" y="3401568"/>
            <a:ext cx="1755648" cy="804672"/>
          </a:xfrm>
          <a:prstGeom prst="rect">
            <a:avLst/>
          </a:prstGeom>
          <a:solidFill>
            <a:srgbClr val="2D2D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Shape 13"/>
          <p:cNvSpPr/>
          <p:nvPr/>
        </p:nvSpPr>
        <p:spPr>
          <a:xfrm>
            <a:off x="2697480" y="3401568"/>
            <a:ext cx="1755648" cy="45720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4"/>
          <p:cNvSpPr/>
          <p:nvPr/>
        </p:nvSpPr>
        <p:spPr>
          <a:xfrm>
            <a:off x="2697480" y="3456432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 hrs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697480" y="384048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notice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617720" y="3401568"/>
            <a:ext cx="1755648" cy="804672"/>
          </a:xfrm>
          <a:prstGeom prst="rect">
            <a:avLst/>
          </a:prstGeom>
          <a:solidFill>
            <a:srgbClr val="2D2D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Shape 17"/>
          <p:cNvSpPr/>
          <p:nvPr/>
        </p:nvSpPr>
        <p:spPr>
          <a:xfrm>
            <a:off x="4617720" y="3401568"/>
            <a:ext cx="1755648" cy="45720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8"/>
          <p:cNvSpPr/>
          <p:nvPr/>
        </p:nvSpPr>
        <p:spPr>
          <a:xfrm>
            <a:off x="4617720" y="3456432"/>
            <a:ext cx="17556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4617720" y="3840480"/>
            <a:ext cx="17556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enforcement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4636008"/>
            <a:ext cx="9144000" cy="507492"/>
          </a:xfrm>
          <a:prstGeom prst="rect">
            <a:avLst/>
          </a:prstGeom>
          <a:solidFill>
            <a:srgbClr val="100F1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Text 21"/>
          <p:cNvSpPr/>
          <p:nvPr/>
        </p:nvSpPr>
        <p:spPr>
          <a:xfrm>
            <a:off x="777240" y="4636008"/>
            <a:ext cx="548640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SecureArabia Cybersecurity Consulting  ·  Riyadh  ·  Jeddah  ·  Dammam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0" y="4636008"/>
            <a:ext cx="2560320" cy="507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سري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256032" y="182880"/>
            <a:ext cx="2103120" cy="256032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256032" y="18288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REALITY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SDAIA is actively fining non-compliant organisations.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6032" y="111556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Arabia's PDPL (Royal Decree M/19) reached full effect in 2024. Non-compliance is no longer a future risk — it is a present one.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56032" y="1627632"/>
            <a:ext cx="2743200" cy="2560320"/>
          </a:xfrm>
          <a:prstGeom prst="rect">
            <a:avLst/>
          </a:prstGeom>
          <a:solidFill>
            <a:srgbClr val="25253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8" name="Shape 6"/>
          <p:cNvSpPr/>
          <p:nvPr/>
        </p:nvSpPr>
        <p:spPr>
          <a:xfrm>
            <a:off x="256032" y="1627632"/>
            <a:ext cx="2743200" cy="64008"/>
          </a:xfrm>
          <a:prstGeom prst="rect">
            <a:avLst/>
          </a:prstGeom>
          <a:solidFill>
            <a:srgbClr val="C029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9" name="Shape 7"/>
          <p:cNvSpPr/>
          <p:nvPr/>
        </p:nvSpPr>
        <p:spPr>
          <a:xfrm>
            <a:off x="484632" y="1810512"/>
            <a:ext cx="512064" cy="512064"/>
          </a:xfrm>
          <a:prstGeom prst="line">
            <a:avLst/>
          </a:prstGeom>
          <a:solidFill>
            <a:srgbClr val="C0293E">
              <a:alpha val="80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865376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2395728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5M</a:t>
            </a:r>
            <a:endParaRPr lang="en-US" sz="3400" dirty="0"/>
          </a:p>
        </p:txBody>
      </p:sp>
      <p:sp>
        <p:nvSpPr>
          <p:cNvPr id="12" name="Text 9"/>
          <p:cNvSpPr/>
          <p:nvPr/>
        </p:nvSpPr>
        <p:spPr>
          <a:xfrm>
            <a:off x="365760" y="3108960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fine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violation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0" y="1627632"/>
            <a:ext cx="2743200" cy="2560320"/>
          </a:xfrm>
          <a:prstGeom prst="rect">
            <a:avLst/>
          </a:prstGeom>
          <a:solidFill>
            <a:srgbClr val="25253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4" name="Shape 11"/>
          <p:cNvSpPr/>
          <p:nvPr/>
        </p:nvSpPr>
        <p:spPr>
          <a:xfrm>
            <a:off x="3200400" y="1627632"/>
            <a:ext cx="2743200" cy="64008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Shape 12"/>
          <p:cNvSpPr/>
          <p:nvPr/>
        </p:nvSpPr>
        <p:spPr>
          <a:xfrm>
            <a:off x="3429000" y="1810512"/>
            <a:ext cx="512064" cy="512064"/>
          </a:xfrm>
          <a:prstGeom prst="line">
            <a:avLst/>
          </a:prstGeom>
          <a:solidFill>
            <a:srgbClr val="D4922A">
              <a:alpha val="80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865376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10128" y="2395728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 Hrs</a:t>
            </a:r>
            <a:endParaRPr lang="en-US" sz="3400" dirty="0"/>
          </a:p>
        </p:txBody>
      </p:sp>
      <p:sp>
        <p:nvSpPr>
          <p:cNvPr id="18" name="Text 14"/>
          <p:cNvSpPr/>
          <p:nvPr/>
        </p:nvSpPr>
        <p:spPr>
          <a:xfrm>
            <a:off x="3310128" y="3108960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notify SDAIA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breach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6144768" y="1627632"/>
            <a:ext cx="2743200" cy="2560320"/>
          </a:xfrm>
          <a:prstGeom prst="rect">
            <a:avLst/>
          </a:prstGeom>
          <a:solidFill>
            <a:srgbClr val="25253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0" name="Shape 16"/>
          <p:cNvSpPr/>
          <p:nvPr/>
        </p:nvSpPr>
        <p:spPr>
          <a:xfrm>
            <a:off x="6144768" y="1627632"/>
            <a:ext cx="2743200" cy="64008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Shape 17"/>
          <p:cNvSpPr/>
          <p:nvPr/>
        </p:nvSpPr>
        <p:spPr>
          <a:xfrm>
            <a:off x="6373368" y="1810512"/>
            <a:ext cx="512064" cy="512064"/>
          </a:xfrm>
          <a:prstGeom prst="line">
            <a:avLst/>
          </a:prstGeom>
          <a:solidFill>
            <a:srgbClr val="8B1A2E">
              <a:alpha val="80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65376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54496" y="2395728"/>
            <a:ext cx="2542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Art. 33</a:t>
            </a:r>
            <a:endParaRPr lang="en-US" sz="3400" dirty="0"/>
          </a:p>
        </p:txBody>
      </p:sp>
      <p:sp>
        <p:nvSpPr>
          <p:cNvPr id="24" name="Text 19"/>
          <p:cNvSpPr/>
          <p:nvPr/>
        </p:nvSpPr>
        <p:spPr>
          <a:xfrm>
            <a:off x="6254496" y="3108960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liability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executives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256032" y="4325112"/>
            <a:ext cx="8631936" cy="521208"/>
          </a:xfrm>
          <a:prstGeom prst="rect">
            <a:avLst/>
          </a:prstGeom>
          <a:solidFill>
            <a:srgbClr val="25253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Shape 21"/>
          <p:cNvSpPr/>
          <p:nvPr/>
        </p:nvSpPr>
        <p:spPr>
          <a:xfrm>
            <a:off x="256032" y="4325112"/>
            <a:ext cx="45720" cy="521208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425696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77240" y="4325112"/>
            <a:ext cx="802843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SDAIA (هيئة الذكاء الاصطناعي والبيانات) has commenced enforcement actions. Beyond fines, non-compliance blocks qualification for government vendor contracts — a critical risk for KSA-facing businesses.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132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 24"/>
          <p:cNvSpPr/>
          <p:nvPr/>
        </p:nvSpPr>
        <p:spPr>
          <a:xfrm>
            <a:off x="320040" y="4773168"/>
            <a:ext cx="85039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SecureArabia  ·  PDPL Compliance Specialists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2011680" cy="256032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PDPL OBLIGATIONS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51206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every Saudi business must have in place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64592" y="109728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8" name="Shape 6"/>
          <p:cNvSpPr/>
          <p:nvPr/>
        </p:nvSpPr>
        <p:spPr>
          <a:xfrm>
            <a:off x="164592" y="1097280"/>
            <a:ext cx="54864" cy="1600200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9" name="Shape 7"/>
          <p:cNvSpPr/>
          <p:nvPr/>
        </p:nvSpPr>
        <p:spPr>
          <a:xfrm>
            <a:off x="329184" y="1261872"/>
            <a:ext cx="402336" cy="402336"/>
          </a:xfrm>
          <a:prstGeom prst="line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07592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126187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7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10896" y="171907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Privacy Policy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10896" y="19933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notice informing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subjects in Arabic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395728" y="109728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Shape 12"/>
          <p:cNvSpPr/>
          <p:nvPr/>
        </p:nvSpPr>
        <p:spPr>
          <a:xfrm>
            <a:off x="2395728" y="1097280"/>
            <a:ext cx="54864" cy="1600200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Shape 13"/>
          <p:cNvSpPr/>
          <p:nvPr/>
        </p:nvSpPr>
        <p:spPr>
          <a:xfrm>
            <a:off x="2560320" y="1261872"/>
            <a:ext cx="402336" cy="402336"/>
          </a:xfrm>
          <a:prstGeom prst="line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2616" y="1307592"/>
            <a:ext cx="237744" cy="2377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054096" y="126187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5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2542032" y="171907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Mechanism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2542032" y="19933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Valid, documented consent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data collection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626864" y="109728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2" name="Shape 18"/>
          <p:cNvSpPr/>
          <p:nvPr/>
        </p:nvSpPr>
        <p:spPr>
          <a:xfrm>
            <a:off x="4626864" y="1097280"/>
            <a:ext cx="54864" cy="1600200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Shape 19"/>
          <p:cNvSpPr/>
          <p:nvPr/>
        </p:nvSpPr>
        <p:spPr>
          <a:xfrm>
            <a:off x="4791456" y="1261872"/>
            <a:ext cx="402336" cy="402336"/>
          </a:xfrm>
          <a:prstGeom prst="line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1307592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285232" y="126187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30</a:t>
            </a:r>
            <a:endParaRPr lang="en-US" sz="800" dirty="0"/>
          </a:p>
        </p:txBody>
      </p:sp>
      <p:sp>
        <p:nvSpPr>
          <p:cNvPr id="26" name="Text 21"/>
          <p:cNvSpPr/>
          <p:nvPr/>
        </p:nvSpPr>
        <p:spPr>
          <a:xfrm>
            <a:off x="4773168" y="171907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Appointed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4773168" y="19933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 Officer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with SDAIA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6858000" y="109728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9" name="Shape 24"/>
          <p:cNvSpPr/>
          <p:nvPr/>
        </p:nvSpPr>
        <p:spPr>
          <a:xfrm>
            <a:off x="6858000" y="1097280"/>
            <a:ext cx="54864" cy="1600200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Shape 25"/>
          <p:cNvSpPr/>
          <p:nvPr/>
        </p:nvSpPr>
        <p:spPr>
          <a:xfrm>
            <a:off x="7022592" y="1261872"/>
            <a:ext cx="402336" cy="402336"/>
          </a:xfrm>
          <a:prstGeom prst="line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4888" y="1307592"/>
            <a:ext cx="237744" cy="23774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7516368" y="126187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15</a:t>
            </a:r>
            <a:endParaRPr lang="en-US" sz="800" dirty="0"/>
          </a:p>
        </p:txBody>
      </p:sp>
      <p:sp>
        <p:nvSpPr>
          <p:cNvPr id="33" name="Text 27"/>
          <p:cNvSpPr/>
          <p:nvPr/>
        </p:nvSpPr>
        <p:spPr>
          <a:xfrm>
            <a:off x="7004304" y="171907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DPAs</a:t>
            </a:r>
            <a:endParaRPr lang="en-US" sz="1050" dirty="0"/>
          </a:p>
        </p:txBody>
      </p:sp>
      <p:sp>
        <p:nvSpPr>
          <p:cNvPr id="34" name="Text 28"/>
          <p:cNvSpPr/>
          <p:nvPr/>
        </p:nvSpPr>
        <p:spPr>
          <a:xfrm>
            <a:off x="7004304" y="199339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agreements with 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processors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164592" y="288036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6" name="Shape 30"/>
          <p:cNvSpPr/>
          <p:nvPr/>
        </p:nvSpPr>
        <p:spPr>
          <a:xfrm>
            <a:off x="164592" y="2880360"/>
            <a:ext cx="54864" cy="1600200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Shape 31"/>
          <p:cNvSpPr/>
          <p:nvPr/>
        </p:nvSpPr>
        <p:spPr>
          <a:xfrm>
            <a:off x="329184" y="3044952"/>
            <a:ext cx="402336" cy="402336"/>
          </a:xfrm>
          <a:prstGeom prst="line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3090672"/>
            <a:ext cx="237744" cy="237744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822960" y="304495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19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310896" y="350215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Procedure</a:t>
            </a:r>
            <a:endParaRPr lang="en-US" sz="1050" dirty="0"/>
          </a:p>
        </p:txBody>
      </p:sp>
      <p:sp>
        <p:nvSpPr>
          <p:cNvPr id="41" name="Text 34"/>
          <p:cNvSpPr/>
          <p:nvPr/>
        </p:nvSpPr>
        <p:spPr>
          <a:xfrm>
            <a:off x="310896" y="377647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72-hour SDAIA notification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documented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2395728" y="288036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3" name="Shape 36"/>
          <p:cNvSpPr/>
          <p:nvPr/>
        </p:nvSpPr>
        <p:spPr>
          <a:xfrm>
            <a:off x="2395728" y="2880360"/>
            <a:ext cx="54864" cy="1600200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4" name="Shape 37"/>
          <p:cNvSpPr/>
          <p:nvPr/>
        </p:nvSpPr>
        <p:spPr>
          <a:xfrm>
            <a:off x="2560320" y="3044952"/>
            <a:ext cx="402336" cy="402336"/>
          </a:xfrm>
          <a:prstGeom prst="line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2616" y="3090672"/>
            <a:ext cx="237744" cy="237744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3054096" y="304495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20</a:t>
            </a:r>
            <a:endParaRPr lang="en-US" sz="800" dirty="0"/>
          </a:p>
        </p:txBody>
      </p:sp>
      <p:sp>
        <p:nvSpPr>
          <p:cNvPr id="47" name="Text 39"/>
          <p:cNvSpPr/>
          <p:nvPr/>
        </p:nvSpPr>
        <p:spPr>
          <a:xfrm>
            <a:off x="2542032" y="350215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Security</a:t>
            </a:r>
            <a:endParaRPr lang="en-US" sz="1050" dirty="0"/>
          </a:p>
        </p:txBody>
      </p:sp>
      <p:sp>
        <p:nvSpPr>
          <p:cNvPr id="48" name="Text 40"/>
          <p:cNvSpPr/>
          <p:nvPr/>
        </p:nvSpPr>
        <p:spPr>
          <a:xfrm>
            <a:off x="2542032" y="377647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Encryption, access controls,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 management</a:t>
            </a:r>
            <a:endParaRPr lang="en-US" sz="900" dirty="0"/>
          </a:p>
        </p:txBody>
      </p:sp>
      <p:sp>
        <p:nvSpPr>
          <p:cNvPr id="49" name="Shape 41"/>
          <p:cNvSpPr/>
          <p:nvPr/>
        </p:nvSpPr>
        <p:spPr>
          <a:xfrm>
            <a:off x="4626864" y="288036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0" name="Shape 42"/>
          <p:cNvSpPr/>
          <p:nvPr/>
        </p:nvSpPr>
        <p:spPr>
          <a:xfrm>
            <a:off x="4626864" y="2880360"/>
            <a:ext cx="54864" cy="1600200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1" name="Shape 43"/>
          <p:cNvSpPr/>
          <p:nvPr/>
        </p:nvSpPr>
        <p:spPr>
          <a:xfrm>
            <a:off x="4791456" y="3044952"/>
            <a:ext cx="402336" cy="402336"/>
          </a:xfrm>
          <a:prstGeom prst="line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3752" y="3090672"/>
            <a:ext cx="237744" cy="237744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5285232" y="304495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18</a:t>
            </a:r>
            <a:endParaRPr lang="en-US" sz="800" dirty="0"/>
          </a:p>
        </p:txBody>
      </p:sp>
      <p:sp>
        <p:nvSpPr>
          <p:cNvPr id="54" name="Text 45"/>
          <p:cNvSpPr/>
          <p:nvPr/>
        </p:nvSpPr>
        <p:spPr>
          <a:xfrm>
            <a:off x="4773168" y="350215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Schedule</a:t>
            </a:r>
            <a:endParaRPr lang="en-US" sz="1050" dirty="0"/>
          </a:p>
        </p:txBody>
      </p:sp>
      <p:sp>
        <p:nvSpPr>
          <p:cNvPr id="55" name="Text 46"/>
          <p:cNvSpPr/>
          <p:nvPr/>
        </p:nvSpPr>
        <p:spPr>
          <a:xfrm>
            <a:off x="4773168" y="377647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retention and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 procedures</a:t>
            </a:r>
            <a:endParaRPr lang="en-US" sz="900" dirty="0"/>
          </a:p>
        </p:txBody>
      </p:sp>
      <p:sp>
        <p:nvSpPr>
          <p:cNvPr id="56" name="Shape 47"/>
          <p:cNvSpPr/>
          <p:nvPr/>
        </p:nvSpPr>
        <p:spPr>
          <a:xfrm>
            <a:off x="6858000" y="2880360"/>
            <a:ext cx="2084832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57" name="Shape 48"/>
          <p:cNvSpPr/>
          <p:nvPr/>
        </p:nvSpPr>
        <p:spPr>
          <a:xfrm>
            <a:off x="6858000" y="2880360"/>
            <a:ext cx="54864" cy="1600200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8" name="Shape 49"/>
          <p:cNvSpPr/>
          <p:nvPr/>
        </p:nvSpPr>
        <p:spPr>
          <a:xfrm>
            <a:off x="7022592" y="3044952"/>
            <a:ext cx="402336" cy="402336"/>
          </a:xfrm>
          <a:prstGeom prst="line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4888" y="3090672"/>
            <a:ext cx="237744" cy="237744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7516368" y="3044952"/>
            <a:ext cx="131673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28</a:t>
            </a:r>
            <a:endParaRPr lang="en-US" sz="800" dirty="0"/>
          </a:p>
        </p:txBody>
      </p:sp>
      <p:sp>
        <p:nvSpPr>
          <p:cNvPr id="61" name="Text 51"/>
          <p:cNvSpPr/>
          <p:nvPr/>
        </p:nvSpPr>
        <p:spPr>
          <a:xfrm>
            <a:off x="7004304" y="3502152"/>
            <a:ext cx="18470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(RoPA)</a:t>
            </a:r>
            <a:endParaRPr lang="en-US" sz="1050" dirty="0"/>
          </a:p>
        </p:txBody>
      </p:sp>
      <p:sp>
        <p:nvSpPr>
          <p:cNvPr id="62" name="Text 52"/>
          <p:cNvSpPr/>
          <p:nvPr/>
        </p:nvSpPr>
        <p:spPr>
          <a:xfrm>
            <a:off x="7004304" y="3776472"/>
            <a:ext cx="184708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records available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SDAIA inspection</a:t>
            </a:r>
            <a:endParaRPr lang="en-US" sz="900" dirty="0"/>
          </a:p>
        </p:txBody>
      </p:sp>
      <p:sp>
        <p:nvSpPr>
          <p:cNvPr id="63" name="Shape 53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4" name="Text 54"/>
          <p:cNvSpPr/>
          <p:nvPr/>
        </p:nvSpPr>
        <p:spPr>
          <a:xfrm>
            <a:off x="320040" y="4773168"/>
            <a:ext cx="85039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SecureArabia  ·  PDPL Compliance Specialists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256032" y="182880"/>
            <a:ext cx="2743200" cy="256032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256032" y="1828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FIND IN KSA AUDITS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most common PDPL gaps across Saudi SMEs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219456" y="1261872"/>
            <a:ext cx="2798064" cy="1600200"/>
          </a:xfrm>
          <a:prstGeom prst="rect">
            <a:avLst/>
          </a:prstGeom>
          <a:solidFill>
            <a:srgbClr val="25253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7" name="Shape 5"/>
          <p:cNvSpPr/>
          <p:nvPr/>
        </p:nvSpPr>
        <p:spPr>
          <a:xfrm>
            <a:off x="219456" y="1261872"/>
            <a:ext cx="2798064" cy="54864"/>
          </a:xfrm>
          <a:prstGeom prst="rect">
            <a:avLst/>
          </a:prstGeom>
          <a:solidFill>
            <a:srgbClr val="C029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Text 6"/>
          <p:cNvSpPr/>
          <p:nvPr/>
        </p:nvSpPr>
        <p:spPr>
          <a:xfrm>
            <a:off x="329184" y="1335024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2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89%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395728" y="1399032"/>
            <a:ext cx="457200" cy="457200"/>
          </a:xfrm>
          <a:prstGeom prst="line">
            <a:avLst/>
          </a:prstGeom>
          <a:solidFill>
            <a:srgbClr val="C0293E">
              <a:alpha val="75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9736" y="1444752"/>
            <a:ext cx="310896" cy="3108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56616" y="20116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KSA SMEs audited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56616" y="22677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Arabic Privacy Policy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56616" y="254203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Outdated, missing, or English-only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191256" y="1261872"/>
            <a:ext cx="2798064" cy="1600200"/>
          </a:xfrm>
          <a:prstGeom prst="rect">
            <a:avLst/>
          </a:prstGeom>
          <a:solidFill>
            <a:srgbClr val="25253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15" name="Shape 12"/>
          <p:cNvSpPr/>
          <p:nvPr/>
        </p:nvSpPr>
        <p:spPr>
          <a:xfrm>
            <a:off x="3191256" y="1261872"/>
            <a:ext cx="2798064" cy="54864"/>
          </a:xfrm>
          <a:prstGeom prst="rect">
            <a:avLst/>
          </a:prstGeom>
          <a:solidFill>
            <a:srgbClr val="C029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Text 13"/>
          <p:cNvSpPr/>
          <p:nvPr/>
        </p:nvSpPr>
        <p:spPr>
          <a:xfrm>
            <a:off x="3300984" y="1335024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2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82%</a:t>
            </a:r>
            <a:endParaRPr lang="en-US" sz="3000" dirty="0"/>
          </a:p>
        </p:txBody>
      </p:sp>
      <p:sp>
        <p:nvSpPr>
          <p:cNvPr id="17" name="Shape 14"/>
          <p:cNvSpPr/>
          <p:nvPr/>
        </p:nvSpPr>
        <p:spPr>
          <a:xfrm>
            <a:off x="5367528" y="1399032"/>
            <a:ext cx="457200" cy="457200"/>
          </a:xfrm>
          <a:prstGeom prst="line">
            <a:avLst/>
          </a:prstGeom>
          <a:solidFill>
            <a:srgbClr val="C0293E">
              <a:alpha val="75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1536" y="1444752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328416" y="20116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KSA SMEs audited</a:t>
            </a:r>
            <a:endParaRPr lang="en-US" sz="850" dirty="0"/>
          </a:p>
        </p:txBody>
      </p:sp>
      <p:sp>
        <p:nvSpPr>
          <p:cNvPr id="20" name="Text 16"/>
          <p:cNvSpPr/>
          <p:nvPr/>
        </p:nvSpPr>
        <p:spPr>
          <a:xfrm>
            <a:off x="3328416" y="22677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Consent Mechanism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328416" y="254203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Website/app lacks valid consent flow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163056" y="1261872"/>
            <a:ext cx="2798064" cy="1600200"/>
          </a:xfrm>
          <a:prstGeom prst="rect">
            <a:avLst/>
          </a:prstGeom>
          <a:solidFill>
            <a:srgbClr val="25253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3" name="Shape 19"/>
          <p:cNvSpPr/>
          <p:nvPr/>
        </p:nvSpPr>
        <p:spPr>
          <a:xfrm>
            <a:off x="6163056" y="1261872"/>
            <a:ext cx="2798064" cy="54864"/>
          </a:xfrm>
          <a:prstGeom prst="rect">
            <a:avLst/>
          </a:prstGeom>
          <a:solidFill>
            <a:srgbClr val="C4610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Text 20"/>
          <p:cNvSpPr/>
          <p:nvPr/>
        </p:nvSpPr>
        <p:spPr>
          <a:xfrm>
            <a:off x="6272784" y="1335024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461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76%</a:t>
            </a:r>
            <a:endParaRPr lang="en-US" sz="3000" dirty="0"/>
          </a:p>
        </p:txBody>
      </p:sp>
      <p:sp>
        <p:nvSpPr>
          <p:cNvPr id="25" name="Shape 21"/>
          <p:cNvSpPr/>
          <p:nvPr/>
        </p:nvSpPr>
        <p:spPr>
          <a:xfrm>
            <a:off x="8339328" y="1399032"/>
            <a:ext cx="457200" cy="457200"/>
          </a:xfrm>
          <a:prstGeom prst="line">
            <a:avLst/>
          </a:prstGeom>
          <a:solidFill>
            <a:srgbClr val="C4610A">
              <a:alpha val="75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1444752"/>
            <a:ext cx="310896" cy="31089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300216" y="20116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KSA SMEs audited</a:t>
            </a:r>
            <a:endParaRPr lang="en-US" sz="850" dirty="0"/>
          </a:p>
        </p:txBody>
      </p:sp>
      <p:sp>
        <p:nvSpPr>
          <p:cNvPr id="28" name="Text 23"/>
          <p:cNvSpPr/>
          <p:nvPr/>
        </p:nvSpPr>
        <p:spPr>
          <a:xfrm>
            <a:off x="6300216" y="226771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DPO Registered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6300216" y="254203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officer appointed with SDAIA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219456" y="3044952"/>
            <a:ext cx="2798064" cy="1600200"/>
          </a:xfrm>
          <a:prstGeom prst="rect">
            <a:avLst/>
          </a:prstGeom>
          <a:solidFill>
            <a:srgbClr val="25253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1" name="Shape 26"/>
          <p:cNvSpPr/>
          <p:nvPr/>
        </p:nvSpPr>
        <p:spPr>
          <a:xfrm>
            <a:off x="219456" y="3044952"/>
            <a:ext cx="2798064" cy="54864"/>
          </a:xfrm>
          <a:prstGeom prst="rect">
            <a:avLst/>
          </a:prstGeom>
          <a:solidFill>
            <a:srgbClr val="C029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" name="Text 27"/>
          <p:cNvSpPr/>
          <p:nvPr/>
        </p:nvSpPr>
        <p:spPr>
          <a:xfrm>
            <a:off x="329184" y="3118104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2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3000" dirty="0"/>
          </a:p>
        </p:txBody>
      </p:sp>
      <p:sp>
        <p:nvSpPr>
          <p:cNvPr id="33" name="Shape 28"/>
          <p:cNvSpPr/>
          <p:nvPr/>
        </p:nvSpPr>
        <p:spPr>
          <a:xfrm>
            <a:off x="2395728" y="3182112"/>
            <a:ext cx="457200" cy="457200"/>
          </a:xfrm>
          <a:prstGeom prst="line">
            <a:avLst/>
          </a:prstGeom>
          <a:solidFill>
            <a:srgbClr val="C0293E">
              <a:alpha val="75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9736" y="3227832"/>
            <a:ext cx="310896" cy="310896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356616" y="37947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KSA SMEs audited</a:t>
            </a:r>
            <a:endParaRPr lang="en-US" sz="850" dirty="0"/>
          </a:p>
        </p:txBody>
      </p:sp>
      <p:sp>
        <p:nvSpPr>
          <p:cNvPr id="36" name="Text 30"/>
          <p:cNvSpPr/>
          <p:nvPr/>
        </p:nvSpPr>
        <p:spPr>
          <a:xfrm>
            <a:off x="356616" y="40507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DPAs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356616" y="432511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processors have no agreement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>
            <a:off x="3191256" y="3044952"/>
            <a:ext cx="2798064" cy="1600200"/>
          </a:xfrm>
          <a:prstGeom prst="rect">
            <a:avLst/>
          </a:prstGeom>
          <a:solidFill>
            <a:srgbClr val="25253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9" name="Shape 33"/>
          <p:cNvSpPr/>
          <p:nvPr/>
        </p:nvSpPr>
        <p:spPr>
          <a:xfrm>
            <a:off x="3191256" y="3044952"/>
            <a:ext cx="2798064" cy="54864"/>
          </a:xfrm>
          <a:prstGeom prst="rect">
            <a:avLst/>
          </a:prstGeom>
          <a:solidFill>
            <a:srgbClr val="C029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0" name="Text 34"/>
          <p:cNvSpPr/>
          <p:nvPr/>
        </p:nvSpPr>
        <p:spPr>
          <a:xfrm>
            <a:off x="3300984" y="3118104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029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93%</a:t>
            </a:r>
            <a:endParaRPr lang="en-US" sz="3000" dirty="0"/>
          </a:p>
        </p:txBody>
      </p:sp>
      <p:sp>
        <p:nvSpPr>
          <p:cNvPr id="41" name="Shape 35"/>
          <p:cNvSpPr/>
          <p:nvPr/>
        </p:nvSpPr>
        <p:spPr>
          <a:xfrm>
            <a:off x="5367528" y="3182112"/>
            <a:ext cx="457200" cy="457200"/>
          </a:xfrm>
          <a:prstGeom prst="line">
            <a:avLst/>
          </a:prstGeom>
          <a:solidFill>
            <a:srgbClr val="C0293E">
              <a:alpha val="75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31536" y="3227832"/>
            <a:ext cx="310896" cy="31089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328416" y="37947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KSA SMEs audited</a:t>
            </a:r>
            <a:endParaRPr lang="en-US" sz="850" dirty="0"/>
          </a:p>
        </p:txBody>
      </p:sp>
      <p:sp>
        <p:nvSpPr>
          <p:cNvPr id="44" name="Text 37"/>
          <p:cNvSpPr/>
          <p:nvPr/>
        </p:nvSpPr>
        <p:spPr>
          <a:xfrm>
            <a:off x="3328416" y="40507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Breach Procedure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3328416" y="432511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72-hour notification workflow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163056" y="3044952"/>
            <a:ext cx="2798064" cy="1600200"/>
          </a:xfrm>
          <a:prstGeom prst="rect">
            <a:avLst/>
          </a:prstGeom>
          <a:solidFill>
            <a:srgbClr val="252538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7" name="Shape 40"/>
          <p:cNvSpPr/>
          <p:nvPr/>
        </p:nvSpPr>
        <p:spPr>
          <a:xfrm>
            <a:off x="6163056" y="3044952"/>
            <a:ext cx="2798064" cy="54864"/>
          </a:xfrm>
          <a:prstGeom prst="rect">
            <a:avLst/>
          </a:prstGeom>
          <a:solidFill>
            <a:srgbClr val="C4610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8" name="Text 41"/>
          <p:cNvSpPr/>
          <p:nvPr/>
        </p:nvSpPr>
        <p:spPr>
          <a:xfrm>
            <a:off x="6272784" y="3118104"/>
            <a:ext cx="1371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461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3000" dirty="0"/>
          </a:p>
        </p:txBody>
      </p:sp>
      <p:sp>
        <p:nvSpPr>
          <p:cNvPr id="49" name="Shape 42"/>
          <p:cNvSpPr/>
          <p:nvPr/>
        </p:nvSpPr>
        <p:spPr>
          <a:xfrm>
            <a:off x="8339328" y="3182112"/>
            <a:ext cx="457200" cy="457200"/>
          </a:xfrm>
          <a:prstGeom prst="line">
            <a:avLst/>
          </a:prstGeom>
          <a:solidFill>
            <a:srgbClr val="C4610A">
              <a:alpha val="75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5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3336" y="3227832"/>
            <a:ext cx="310896" cy="310896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6300216" y="379476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KSA SMEs audited</a:t>
            </a:r>
            <a:endParaRPr lang="en-US" sz="850" dirty="0"/>
          </a:p>
        </p:txBody>
      </p:sp>
      <p:sp>
        <p:nvSpPr>
          <p:cNvPr id="52" name="Text 44"/>
          <p:cNvSpPr/>
          <p:nvPr/>
        </p:nvSpPr>
        <p:spPr>
          <a:xfrm>
            <a:off x="6300216" y="4050792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RoPA Maintained</a:t>
            </a:r>
            <a:endParaRPr lang="en-US" sz="1050" dirty="0"/>
          </a:p>
        </p:txBody>
      </p:sp>
      <p:sp>
        <p:nvSpPr>
          <p:cNvPr id="53" name="Text 45"/>
          <p:cNvSpPr/>
          <p:nvPr/>
        </p:nvSpPr>
        <p:spPr>
          <a:xfrm>
            <a:off x="6300216" y="4325112"/>
            <a:ext cx="2514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of processing don't exist</a:t>
            </a:r>
            <a:endParaRPr lang="en-US" sz="900" dirty="0"/>
          </a:p>
        </p:txBody>
      </p:sp>
      <p:sp>
        <p:nvSpPr>
          <p:cNvPr id="54" name="Shape 4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132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5" name="Text 47"/>
          <p:cNvSpPr/>
          <p:nvPr/>
        </p:nvSpPr>
        <p:spPr>
          <a:xfrm>
            <a:off x="320040" y="4773168"/>
            <a:ext cx="85039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SecureArabia  ·  Based on KSA SME audit findings 2024–2025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1645920" cy="256032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PACKAGES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51206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fixed-price packages for Saudi businesses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2834640" cy="37673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8" name="Shape 6"/>
          <p:cNvSpPr/>
          <p:nvPr/>
        </p:nvSpPr>
        <p:spPr>
          <a:xfrm>
            <a:off x="182880" y="1097280"/>
            <a:ext cx="2834640" cy="914400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274320" y="1115568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68680" y="1143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فحص الاستعداد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148132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Scan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103120"/>
            <a:ext cx="2651760" cy="475488"/>
          </a:xfrm>
          <a:prstGeom prst="rect">
            <a:avLst/>
          </a:prstGeom>
          <a:solidFill>
            <a:srgbClr val="E8E4D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3" name="Text 11"/>
          <p:cNvSpPr/>
          <p:nvPr/>
        </p:nvSpPr>
        <p:spPr>
          <a:xfrm>
            <a:off x="310896" y="21031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15,000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011680" y="210312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9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2798064"/>
            <a:ext cx="137160" cy="137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2064" y="27066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PDPL gap analysis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3200400"/>
            <a:ext cx="137160" cy="1371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12064" y="31089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mapping interview</a:t>
            </a:r>
            <a:endParaRPr lang="en-US" sz="9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3602736"/>
            <a:ext cx="137160" cy="1371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2064" y="35112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report in Arabic + English</a:t>
            </a:r>
            <a:endParaRPr lang="en-US" sz="9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4005072"/>
            <a:ext cx="137160" cy="1371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12064" y="3913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 list</a:t>
            </a:r>
            <a:endParaRPr lang="en-US" sz="95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" y="4407408"/>
            <a:ext cx="137160" cy="13716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2064" y="43159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first assessment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3172968" y="1097280"/>
            <a:ext cx="2834640" cy="37673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6" name="Shape 19"/>
          <p:cNvSpPr/>
          <p:nvPr/>
        </p:nvSpPr>
        <p:spPr>
          <a:xfrm>
            <a:off x="3172968" y="1097280"/>
            <a:ext cx="2834640" cy="914400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Text 20"/>
          <p:cNvSpPr/>
          <p:nvPr/>
        </p:nvSpPr>
        <p:spPr>
          <a:xfrm>
            <a:off x="3264408" y="1115568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0C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28" name="Text 21"/>
          <p:cNvSpPr/>
          <p:nvPr/>
        </p:nvSpPr>
        <p:spPr>
          <a:xfrm>
            <a:off x="3858768" y="1143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التدقيق الشامل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3858768" y="148132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PDPL Audit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264408" y="2103120"/>
            <a:ext cx="2651760" cy="475488"/>
          </a:xfrm>
          <a:prstGeom prst="rect">
            <a:avLst/>
          </a:prstGeom>
          <a:solidFill>
            <a:srgbClr val="F2DCDF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4"/>
          <p:cNvSpPr/>
          <p:nvPr/>
        </p:nvSpPr>
        <p:spPr>
          <a:xfrm>
            <a:off x="3300984" y="21031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35,000</a:t>
            </a:r>
            <a:endParaRPr lang="en-US" sz="1700" dirty="0"/>
          </a:p>
        </p:txBody>
      </p:sp>
      <p:sp>
        <p:nvSpPr>
          <p:cNvPr id="32" name="Text 25"/>
          <p:cNvSpPr/>
          <p:nvPr/>
        </p:nvSpPr>
        <p:spPr>
          <a:xfrm>
            <a:off x="5001768" y="210312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weeks</a:t>
            </a:r>
            <a:endParaRPr lang="en-US" sz="9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2798064"/>
            <a:ext cx="137160" cy="1371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502152" y="27066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Tier 1</a:t>
            </a:r>
            <a:endParaRPr lang="en-US" sz="950" dirty="0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3200400"/>
            <a:ext cx="137160" cy="13716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3502152" y="31089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vulnerability scan</a:t>
            </a:r>
            <a:endParaRPr lang="en-US" sz="95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3602736"/>
            <a:ext cx="137160" cy="13716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3502152" y="35112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&amp; procedure review</a:t>
            </a:r>
            <a:endParaRPr lang="en-US" sz="950" dirty="0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4005072"/>
            <a:ext cx="137160" cy="13716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3502152" y="3913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cookie compliance</a:t>
            </a:r>
            <a:endParaRPr lang="en-US" sz="950" dirty="0"/>
          </a:p>
        </p:txBody>
      </p:sp>
      <p:pic>
        <p:nvPicPr>
          <p:cNvPr id="4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984" y="4407408"/>
            <a:ext cx="137160" cy="137160"/>
          </a:xfrm>
          <a:prstGeom prst="rect">
            <a:avLst/>
          </a:prstGeom>
        </p:spPr>
      </p:pic>
      <p:sp>
        <p:nvSpPr>
          <p:cNvPr id="42" name="Text 30"/>
          <p:cNvSpPr/>
          <p:nvPr/>
        </p:nvSpPr>
        <p:spPr>
          <a:xfrm>
            <a:off x="3502152" y="43159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report + roadmap</a:t>
            </a:r>
            <a:endParaRPr lang="en-US" sz="950" dirty="0"/>
          </a:p>
        </p:txBody>
      </p:sp>
      <p:sp>
        <p:nvSpPr>
          <p:cNvPr id="43" name="Shape 31"/>
          <p:cNvSpPr/>
          <p:nvPr/>
        </p:nvSpPr>
        <p:spPr>
          <a:xfrm>
            <a:off x="6163056" y="1097280"/>
            <a:ext cx="2834640" cy="37673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44" name="Shape 32"/>
          <p:cNvSpPr/>
          <p:nvPr/>
        </p:nvSpPr>
        <p:spPr>
          <a:xfrm>
            <a:off x="6163056" y="1097280"/>
            <a:ext cx="2834640" cy="914400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5" name="Text 33"/>
          <p:cNvSpPr/>
          <p:nvPr/>
        </p:nvSpPr>
        <p:spPr>
          <a:xfrm>
            <a:off x="6254496" y="1115568"/>
            <a:ext cx="685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46" name="Text 34"/>
          <p:cNvSpPr/>
          <p:nvPr/>
        </p:nvSpPr>
        <p:spPr>
          <a:xfrm>
            <a:off x="6848856" y="114300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التدقيق والمعالجة</a:t>
            </a:r>
            <a:endParaRPr lang="en-US" sz="1300" dirty="0"/>
          </a:p>
        </p:txBody>
      </p:sp>
      <p:sp>
        <p:nvSpPr>
          <p:cNvPr id="47" name="Text 35"/>
          <p:cNvSpPr/>
          <p:nvPr/>
        </p:nvSpPr>
        <p:spPr>
          <a:xfrm>
            <a:off x="6848856" y="1481328"/>
            <a:ext cx="2029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+ Remediation</a:t>
            </a:r>
            <a:endParaRPr lang="en-US" sz="950" dirty="0"/>
          </a:p>
        </p:txBody>
      </p:sp>
      <p:sp>
        <p:nvSpPr>
          <p:cNvPr id="48" name="Shape 36"/>
          <p:cNvSpPr/>
          <p:nvPr/>
        </p:nvSpPr>
        <p:spPr>
          <a:xfrm>
            <a:off x="6254496" y="2103120"/>
            <a:ext cx="2651760" cy="475488"/>
          </a:xfrm>
          <a:prstGeom prst="rect">
            <a:avLst/>
          </a:prstGeom>
          <a:solidFill>
            <a:srgbClr val="F5EAD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9" name="Text 37"/>
          <p:cNvSpPr/>
          <p:nvPr/>
        </p:nvSpPr>
        <p:spPr>
          <a:xfrm>
            <a:off x="6291072" y="2103120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70,000</a:t>
            </a:r>
            <a:endParaRPr lang="en-US" sz="1700" dirty="0"/>
          </a:p>
        </p:txBody>
      </p:sp>
      <p:sp>
        <p:nvSpPr>
          <p:cNvPr id="50" name="Text 38"/>
          <p:cNvSpPr/>
          <p:nvPr/>
        </p:nvSpPr>
        <p:spPr>
          <a:xfrm>
            <a:off x="7991856" y="2103120"/>
            <a:ext cx="914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weeks</a:t>
            </a:r>
            <a:endParaRPr lang="en-US" sz="900" dirty="0"/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798064"/>
            <a:ext cx="137160" cy="137160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6492240" y="270662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Tier 2</a:t>
            </a:r>
            <a:endParaRPr lang="en-US" sz="950" dirty="0"/>
          </a:p>
        </p:txBody>
      </p:sp>
      <p:pic>
        <p:nvPicPr>
          <p:cNvPr id="53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200400"/>
            <a:ext cx="137160" cy="137160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6492240" y="31089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remediation support</a:t>
            </a:r>
            <a:endParaRPr lang="en-US" sz="950" dirty="0"/>
          </a:p>
        </p:txBody>
      </p:sp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3602736"/>
            <a:ext cx="137160" cy="137160"/>
          </a:xfrm>
          <a:prstGeom prst="rect">
            <a:avLst/>
          </a:prstGeom>
        </p:spPr>
      </p:pic>
      <p:sp>
        <p:nvSpPr>
          <p:cNvPr id="56" name="Text 41"/>
          <p:cNvSpPr/>
          <p:nvPr/>
        </p:nvSpPr>
        <p:spPr>
          <a:xfrm>
            <a:off x="6492240" y="35112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policy templates</a:t>
            </a:r>
            <a:endParaRPr lang="en-US" sz="950" dirty="0"/>
          </a:p>
        </p:txBody>
      </p:sp>
      <p:pic>
        <p:nvPicPr>
          <p:cNvPr id="57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4005072"/>
            <a:ext cx="137160" cy="137160"/>
          </a:xfrm>
          <a:prstGeom prst="rect">
            <a:avLst/>
          </a:prstGeom>
        </p:spPr>
      </p:pic>
      <p:sp>
        <p:nvSpPr>
          <p:cNvPr id="58" name="Text 42"/>
          <p:cNvSpPr/>
          <p:nvPr/>
        </p:nvSpPr>
        <p:spPr>
          <a:xfrm>
            <a:off x="6492240" y="3913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awareness training</a:t>
            </a:r>
            <a:endParaRPr lang="en-US" sz="950" dirty="0"/>
          </a:p>
        </p:txBody>
      </p:sp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4407408"/>
            <a:ext cx="137160" cy="137160"/>
          </a:xfrm>
          <a:prstGeom prst="rect">
            <a:avLst/>
          </a:prstGeom>
        </p:spPr>
      </p:pic>
      <p:sp>
        <p:nvSpPr>
          <p:cNvPr id="60" name="Text 43"/>
          <p:cNvSpPr/>
          <p:nvPr/>
        </p:nvSpPr>
        <p:spPr>
          <a:xfrm>
            <a:off x="6492240" y="431596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83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retainer included</a:t>
            </a:r>
            <a:endParaRPr lang="en-US" sz="950" dirty="0"/>
          </a:p>
        </p:txBody>
      </p:sp>
      <p:sp>
        <p:nvSpPr>
          <p:cNvPr id="61" name="Text 44"/>
          <p:cNvSpPr/>
          <p:nvPr/>
        </p:nvSpPr>
        <p:spPr>
          <a:xfrm>
            <a:off x="182880" y="4892040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PDPL retainer from SAR 18,000/year — quarterly reviews, incident support, re-audit, and ongoing advisory included.</a:t>
            </a:r>
            <a:endParaRPr lang="en-US" sz="900" dirty="0"/>
          </a:p>
        </p:txBody>
      </p:sp>
      <p:sp>
        <p:nvSpPr>
          <p:cNvPr id="62" name="Shape 4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63" name="Text 46"/>
          <p:cNvSpPr/>
          <p:nvPr/>
        </p:nvSpPr>
        <p:spPr>
          <a:xfrm>
            <a:off x="320040" y="4773168"/>
            <a:ext cx="85039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SecureArabia  ·  PDPL Compliance Specialists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256032" y="182880"/>
            <a:ext cx="2560320" cy="256032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256032" y="1828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SECTORS IN KSA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484632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industries face the greatest PDPL exposure?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19456" y="1234440"/>
            <a:ext cx="8705088" cy="658368"/>
          </a:xfrm>
          <a:prstGeom prst="rect">
            <a:avLst/>
          </a:prstGeom>
          <a:solidFill>
            <a:srgbClr val="25253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7" name="Shape 5"/>
          <p:cNvSpPr/>
          <p:nvPr/>
        </p:nvSpPr>
        <p:spPr>
          <a:xfrm>
            <a:off x="320040" y="1344168"/>
            <a:ext cx="420624" cy="420624"/>
          </a:xfrm>
          <a:prstGeom prst="line">
            <a:avLst/>
          </a:prstGeom>
          <a:solidFill>
            <a:srgbClr val="C4610A">
              <a:alpha val="80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1389888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128930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&amp; Retail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" y="153619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التجارة الإلكترونية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816352" y="1399032"/>
            <a:ext cx="777240" cy="274320"/>
          </a:xfrm>
          <a:prstGeom prst="rect">
            <a:avLst/>
          </a:prstGeom>
          <a:solidFill>
            <a:srgbClr val="C4610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2" name="Text 9"/>
          <p:cNvSpPr/>
          <p:nvPr/>
        </p:nvSpPr>
        <p:spPr>
          <a:xfrm>
            <a:off x="2816352" y="13990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749040" y="13258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PII, payment data, purchase history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510528" y="1325880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consumer data at scale — primary SDAIA target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219456" y="1984248"/>
            <a:ext cx="8705088" cy="658368"/>
          </a:xfrm>
          <a:prstGeom prst="rect">
            <a:avLst/>
          </a:prstGeom>
          <a:solidFill>
            <a:srgbClr val="302F4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Shape 13"/>
          <p:cNvSpPr/>
          <p:nvPr/>
        </p:nvSpPr>
        <p:spPr>
          <a:xfrm>
            <a:off x="320040" y="2093976"/>
            <a:ext cx="420624" cy="420624"/>
          </a:xfrm>
          <a:prstGeom prst="line">
            <a:avLst/>
          </a:prstGeom>
          <a:solidFill>
            <a:srgbClr val="C0293E">
              <a:alpha val="80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2139696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4672" y="20391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Clinics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804672" y="228600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الرعاية الصحية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816352" y="2148840"/>
            <a:ext cx="777240" cy="274320"/>
          </a:xfrm>
          <a:prstGeom prst="rect">
            <a:avLst/>
          </a:prstGeom>
          <a:solidFill>
            <a:srgbClr val="C029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1" name="Text 17"/>
          <p:cNvSpPr/>
          <p:nvPr/>
        </p:nvSpPr>
        <p:spPr>
          <a:xfrm>
            <a:off x="2816352" y="21488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3749040" y="2075688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records, diagnostic data (sensitive category)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510528" y="2075688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data requires explicit consent + special controls</a:t>
            </a:r>
            <a:endParaRPr lang="en-US" sz="850" dirty="0"/>
          </a:p>
        </p:txBody>
      </p:sp>
      <p:sp>
        <p:nvSpPr>
          <p:cNvPr id="24" name="Shape 20"/>
          <p:cNvSpPr/>
          <p:nvPr/>
        </p:nvSpPr>
        <p:spPr>
          <a:xfrm>
            <a:off x="219456" y="2734056"/>
            <a:ext cx="8705088" cy="658368"/>
          </a:xfrm>
          <a:prstGeom prst="rect">
            <a:avLst/>
          </a:prstGeom>
          <a:solidFill>
            <a:srgbClr val="25253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Shape 21"/>
          <p:cNvSpPr/>
          <p:nvPr/>
        </p:nvSpPr>
        <p:spPr>
          <a:xfrm>
            <a:off x="320040" y="2843784"/>
            <a:ext cx="420624" cy="420624"/>
          </a:xfrm>
          <a:prstGeom prst="line">
            <a:avLst/>
          </a:prstGeom>
          <a:solidFill>
            <a:srgbClr val="C0293E">
              <a:alpha val="80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2889504"/>
            <a:ext cx="256032" cy="25603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04672" y="278892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04672" y="303580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الخدمات المالية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2816352" y="2898648"/>
            <a:ext cx="777240" cy="274320"/>
          </a:xfrm>
          <a:prstGeom prst="rect">
            <a:avLst/>
          </a:prstGeom>
          <a:solidFill>
            <a:srgbClr val="C0293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0" name="Text 25"/>
          <p:cNvSpPr/>
          <p:nvPr/>
        </p:nvSpPr>
        <p:spPr>
          <a:xfrm>
            <a:off x="2816352" y="28986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750" dirty="0"/>
          </a:p>
        </p:txBody>
      </p:sp>
      <p:sp>
        <p:nvSpPr>
          <p:cNvPr id="31" name="Text 26"/>
          <p:cNvSpPr/>
          <p:nvPr/>
        </p:nvSpPr>
        <p:spPr>
          <a:xfrm>
            <a:off x="3749040" y="2825496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documents, account data, transaction history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510528" y="2825496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Overlaps with SAMA regulations; double-compliance exposure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219456" y="3483864"/>
            <a:ext cx="8705088" cy="658368"/>
          </a:xfrm>
          <a:prstGeom prst="rect">
            <a:avLst/>
          </a:prstGeom>
          <a:solidFill>
            <a:srgbClr val="302F4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Shape 29"/>
          <p:cNvSpPr/>
          <p:nvPr/>
        </p:nvSpPr>
        <p:spPr>
          <a:xfrm>
            <a:off x="320040" y="3593592"/>
            <a:ext cx="420624" cy="420624"/>
          </a:xfrm>
          <a:prstGeom prst="line">
            <a:avLst/>
          </a:prstGeom>
          <a:solidFill>
            <a:srgbClr val="C4610A">
              <a:alpha val="80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3639312"/>
            <a:ext cx="256032" cy="25603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804672" y="353872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HR, Staffing &amp; PEO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804672" y="37856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الموارد البشرية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2816352" y="3648456"/>
            <a:ext cx="777240" cy="274320"/>
          </a:xfrm>
          <a:prstGeom prst="rect">
            <a:avLst/>
          </a:prstGeom>
          <a:solidFill>
            <a:srgbClr val="C4610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9" name="Text 33"/>
          <p:cNvSpPr/>
          <p:nvPr/>
        </p:nvSpPr>
        <p:spPr>
          <a:xfrm>
            <a:off x="2816352" y="364845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0" name="Text 34"/>
          <p:cNvSpPr/>
          <p:nvPr/>
        </p:nvSpPr>
        <p:spPr>
          <a:xfrm>
            <a:off x="3749040" y="3575304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records, CVs, national ID, salary data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6510528" y="3575304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processing of sensitive employee personal data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219456" y="4233672"/>
            <a:ext cx="8705088" cy="658368"/>
          </a:xfrm>
          <a:prstGeom prst="rect">
            <a:avLst/>
          </a:prstGeom>
          <a:solidFill>
            <a:srgbClr val="25253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3" name="Shape 37"/>
          <p:cNvSpPr/>
          <p:nvPr/>
        </p:nvSpPr>
        <p:spPr>
          <a:xfrm>
            <a:off x="320040" y="4343400"/>
            <a:ext cx="420624" cy="420624"/>
          </a:xfrm>
          <a:prstGeom prst="line">
            <a:avLst/>
          </a:prstGeom>
          <a:solidFill>
            <a:srgbClr val="D4922A">
              <a:alpha val="80000"/>
            </a:srgbClr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" y="4389120"/>
            <a:ext cx="256032" cy="25603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804672" y="428853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&amp; PropTech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804672" y="45354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 rtl="1">
              <a:buNone/>
            </a:pPr>
            <a:r>
              <a:rPr lang="en-US" sz="10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العقارات</a:t>
            </a:r>
            <a:endParaRPr lang="en-US" sz="1000" dirty="0"/>
          </a:p>
        </p:txBody>
      </p:sp>
      <p:sp>
        <p:nvSpPr>
          <p:cNvPr id="47" name="Shape 40"/>
          <p:cNvSpPr/>
          <p:nvPr/>
        </p:nvSpPr>
        <p:spPr>
          <a:xfrm>
            <a:off x="2816352" y="4398264"/>
            <a:ext cx="777240" cy="274320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8" name="Text 41"/>
          <p:cNvSpPr/>
          <p:nvPr/>
        </p:nvSpPr>
        <p:spPr>
          <a:xfrm>
            <a:off x="2816352" y="43982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49" name="Text 42"/>
          <p:cNvSpPr/>
          <p:nvPr/>
        </p:nvSpPr>
        <p:spPr>
          <a:xfrm>
            <a:off x="3749040" y="432511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copies, financial documents, contact data</a:t>
            </a:r>
            <a:endParaRPr lang="en-US" sz="900" dirty="0"/>
          </a:p>
        </p:txBody>
      </p:sp>
      <p:sp>
        <p:nvSpPr>
          <p:cNvPr id="50" name="Text 43"/>
          <p:cNvSpPr/>
          <p:nvPr/>
        </p:nvSpPr>
        <p:spPr>
          <a:xfrm>
            <a:off x="6510528" y="4325112"/>
            <a:ext cx="2304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Routine collection with limited controls in most firms</a:t>
            </a:r>
            <a:endParaRPr lang="en-US" sz="850" dirty="0"/>
          </a:p>
        </p:txBody>
      </p:sp>
      <p:sp>
        <p:nvSpPr>
          <p:cNvPr id="51" name="Text 44"/>
          <p:cNvSpPr/>
          <p:nvPr/>
        </p:nvSpPr>
        <p:spPr>
          <a:xfrm>
            <a:off x="804672" y="1042416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750" dirty="0"/>
          </a:p>
        </p:txBody>
      </p:sp>
      <p:sp>
        <p:nvSpPr>
          <p:cNvPr id="52" name="Text 45"/>
          <p:cNvSpPr/>
          <p:nvPr/>
        </p:nvSpPr>
        <p:spPr>
          <a:xfrm>
            <a:off x="2816352" y="1042416"/>
            <a:ext cx="777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750" dirty="0"/>
          </a:p>
        </p:txBody>
      </p:sp>
      <p:sp>
        <p:nvSpPr>
          <p:cNvPr id="53" name="Text 46"/>
          <p:cNvSpPr/>
          <p:nvPr/>
        </p:nvSpPr>
        <p:spPr>
          <a:xfrm>
            <a:off x="3749040" y="1042416"/>
            <a:ext cx="2697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 PROCESSED</a:t>
            </a:r>
            <a:endParaRPr lang="en-US" sz="750" dirty="0"/>
          </a:p>
        </p:txBody>
      </p:sp>
      <p:sp>
        <p:nvSpPr>
          <p:cNvPr id="54" name="Text 47"/>
          <p:cNvSpPr/>
          <p:nvPr/>
        </p:nvSpPr>
        <p:spPr>
          <a:xfrm>
            <a:off x="6510528" y="1042416"/>
            <a:ext cx="23042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EXPOSURE</a:t>
            </a:r>
            <a:endParaRPr lang="en-US" sz="750" dirty="0"/>
          </a:p>
        </p:txBody>
      </p:sp>
      <p:sp>
        <p:nvSpPr>
          <p:cNvPr id="55" name="Shape 48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132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6" name="Text 49"/>
          <p:cNvSpPr/>
          <p:nvPr/>
        </p:nvSpPr>
        <p:spPr>
          <a:xfrm>
            <a:off x="320040" y="4773168"/>
            <a:ext cx="85039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SecureArabia  ·  PDPL Compliance Specialists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256032" y="182880"/>
            <a:ext cx="1920240" cy="256032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Text 2"/>
          <p:cNvSpPr/>
          <p:nvPr/>
        </p:nvSpPr>
        <p:spPr>
          <a:xfrm>
            <a:off x="256032" y="1828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AUDIT PROCESS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56032" y="548640"/>
            <a:ext cx="8595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phases from contract to compliance roadmap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2688336"/>
            <a:ext cx="7406640" cy="36576"/>
          </a:xfrm>
          <a:prstGeom prst="rect">
            <a:avLst/>
          </a:prstGeom>
          <a:solidFill>
            <a:srgbClr val="2D2D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7" name="Shape 5"/>
          <p:cNvSpPr/>
          <p:nvPr/>
        </p:nvSpPr>
        <p:spPr>
          <a:xfrm>
            <a:off x="1892808" y="2633472"/>
            <a:ext cx="347472" cy="146304"/>
          </a:xfrm>
          <a:prstGeom prst="rect">
            <a:avLst/>
          </a:prstGeom>
          <a:solidFill>
            <a:srgbClr val="2D2D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Shape 6"/>
          <p:cNvSpPr/>
          <p:nvPr/>
        </p:nvSpPr>
        <p:spPr>
          <a:xfrm>
            <a:off x="2167128" y="2606040"/>
            <a:ext cx="36576" cy="201168"/>
          </a:xfrm>
          <a:prstGeom prst="rect">
            <a:avLst/>
          </a:prstGeom>
          <a:solidFill>
            <a:srgbClr val="2D2D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9" name="Shape 7"/>
          <p:cNvSpPr/>
          <p:nvPr/>
        </p:nvSpPr>
        <p:spPr>
          <a:xfrm>
            <a:off x="850392" y="1261872"/>
            <a:ext cx="713232" cy="713232"/>
          </a:xfrm>
          <a:prstGeom prst="line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Text 8"/>
          <p:cNvSpPr/>
          <p:nvPr/>
        </p:nvSpPr>
        <p:spPr>
          <a:xfrm>
            <a:off x="850392" y="12618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" y="2084832"/>
            <a:ext cx="1188720" cy="621792"/>
          </a:xfrm>
          <a:prstGeom prst="rect">
            <a:avLst/>
          </a:prstGeom>
          <a:solidFill>
            <a:srgbClr val="B8781E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130552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02920" y="28346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التحضير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02920" y="312724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30168" y="2633472"/>
            <a:ext cx="347472" cy="146304"/>
          </a:xfrm>
          <a:prstGeom prst="rect">
            <a:avLst/>
          </a:prstGeom>
          <a:solidFill>
            <a:srgbClr val="2D2D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6" name="Shape 13"/>
          <p:cNvSpPr/>
          <p:nvPr/>
        </p:nvSpPr>
        <p:spPr>
          <a:xfrm>
            <a:off x="3904488" y="2606040"/>
            <a:ext cx="36576" cy="201168"/>
          </a:xfrm>
          <a:prstGeom prst="rect">
            <a:avLst/>
          </a:prstGeom>
          <a:solidFill>
            <a:srgbClr val="2D2D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Shape 14"/>
          <p:cNvSpPr/>
          <p:nvPr/>
        </p:nvSpPr>
        <p:spPr>
          <a:xfrm>
            <a:off x="2587752" y="1261872"/>
            <a:ext cx="713232" cy="713232"/>
          </a:xfrm>
          <a:prstGeom prst="line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8" name="Text 15"/>
          <p:cNvSpPr/>
          <p:nvPr/>
        </p:nvSpPr>
        <p:spPr>
          <a:xfrm>
            <a:off x="2587752" y="12618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2350008" y="2084832"/>
            <a:ext cx="1188720" cy="621792"/>
          </a:xfrm>
          <a:prstGeom prst="rect">
            <a:avLst/>
          </a:prstGeom>
          <a:solidFill>
            <a:srgbClr val="6B0F22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4056" y="2130552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240280" y="28346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الفجوات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2240280" y="312724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367528" y="2633472"/>
            <a:ext cx="347472" cy="146304"/>
          </a:xfrm>
          <a:prstGeom prst="rect">
            <a:avLst/>
          </a:prstGeom>
          <a:solidFill>
            <a:srgbClr val="2D2D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4" name="Shape 20"/>
          <p:cNvSpPr/>
          <p:nvPr/>
        </p:nvSpPr>
        <p:spPr>
          <a:xfrm>
            <a:off x="5641848" y="2606040"/>
            <a:ext cx="36576" cy="201168"/>
          </a:xfrm>
          <a:prstGeom prst="rect">
            <a:avLst/>
          </a:prstGeom>
          <a:solidFill>
            <a:srgbClr val="2D2D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5" name="Shape 21"/>
          <p:cNvSpPr/>
          <p:nvPr/>
        </p:nvSpPr>
        <p:spPr>
          <a:xfrm>
            <a:off x="4325112" y="1261872"/>
            <a:ext cx="713232" cy="713232"/>
          </a:xfrm>
          <a:prstGeom prst="line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Text 22"/>
          <p:cNvSpPr/>
          <p:nvPr/>
        </p:nvSpPr>
        <p:spPr>
          <a:xfrm>
            <a:off x="4325112" y="12618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4087368" y="2084832"/>
            <a:ext cx="1188720" cy="621792"/>
          </a:xfrm>
          <a:prstGeom prst="rect">
            <a:avLst/>
          </a:prstGeom>
          <a:solidFill>
            <a:srgbClr val="B8781E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2130552"/>
            <a:ext cx="402336" cy="402336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977640" y="28346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الفحص التقني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3977640" y="312724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7104888" y="2633472"/>
            <a:ext cx="347472" cy="146304"/>
          </a:xfrm>
          <a:prstGeom prst="rect">
            <a:avLst/>
          </a:prstGeom>
          <a:solidFill>
            <a:srgbClr val="2D2D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2" name="Shape 27"/>
          <p:cNvSpPr/>
          <p:nvPr/>
        </p:nvSpPr>
        <p:spPr>
          <a:xfrm>
            <a:off x="7379208" y="2606040"/>
            <a:ext cx="36576" cy="201168"/>
          </a:xfrm>
          <a:prstGeom prst="rect">
            <a:avLst/>
          </a:prstGeom>
          <a:solidFill>
            <a:srgbClr val="2D2D44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Shape 28"/>
          <p:cNvSpPr/>
          <p:nvPr/>
        </p:nvSpPr>
        <p:spPr>
          <a:xfrm>
            <a:off x="6062472" y="1261872"/>
            <a:ext cx="713232" cy="713232"/>
          </a:xfrm>
          <a:prstGeom prst="line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Text 29"/>
          <p:cNvSpPr/>
          <p:nvPr/>
        </p:nvSpPr>
        <p:spPr>
          <a:xfrm>
            <a:off x="6062472" y="12618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" dirty="0"/>
          </a:p>
        </p:txBody>
      </p:sp>
      <p:sp>
        <p:nvSpPr>
          <p:cNvPr id="35" name="Shape 30"/>
          <p:cNvSpPr/>
          <p:nvPr/>
        </p:nvSpPr>
        <p:spPr>
          <a:xfrm>
            <a:off x="5824728" y="2084832"/>
            <a:ext cx="1188720" cy="621792"/>
          </a:xfrm>
          <a:prstGeom prst="rect">
            <a:avLst/>
          </a:prstGeom>
          <a:solidFill>
            <a:srgbClr val="6B0F22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8776" y="2130552"/>
            <a:ext cx="402336" cy="402336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715000" y="28346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التقرير</a:t>
            </a:r>
            <a:endParaRPr lang="en-US" sz="1000" dirty="0"/>
          </a:p>
        </p:txBody>
      </p:sp>
      <p:sp>
        <p:nvSpPr>
          <p:cNvPr id="38" name="Text 32"/>
          <p:cNvSpPr/>
          <p:nvPr/>
        </p:nvSpPr>
        <p:spPr>
          <a:xfrm>
            <a:off x="5715000" y="312724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50" dirty="0"/>
          </a:p>
        </p:txBody>
      </p:sp>
      <p:sp>
        <p:nvSpPr>
          <p:cNvPr id="39" name="Shape 33"/>
          <p:cNvSpPr/>
          <p:nvPr/>
        </p:nvSpPr>
        <p:spPr>
          <a:xfrm>
            <a:off x="7799832" y="1261872"/>
            <a:ext cx="713232" cy="713232"/>
          </a:xfrm>
          <a:prstGeom prst="line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0" name="Text 34"/>
          <p:cNvSpPr/>
          <p:nvPr/>
        </p:nvSpPr>
        <p:spPr>
          <a:xfrm>
            <a:off x="7799832" y="1261872"/>
            <a:ext cx="7132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500" dirty="0"/>
          </a:p>
        </p:txBody>
      </p:sp>
      <p:sp>
        <p:nvSpPr>
          <p:cNvPr id="41" name="Shape 35"/>
          <p:cNvSpPr/>
          <p:nvPr/>
        </p:nvSpPr>
        <p:spPr>
          <a:xfrm>
            <a:off x="7562088" y="2084832"/>
            <a:ext cx="1188720" cy="621792"/>
          </a:xfrm>
          <a:prstGeom prst="rect">
            <a:avLst/>
          </a:prstGeom>
          <a:solidFill>
            <a:srgbClr val="B8781E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6136" y="2130552"/>
            <a:ext cx="402336" cy="40233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7452360" y="2834640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00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خارطة الطريق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7452360" y="3127248"/>
            <a:ext cx="1417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502920" y="3602736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mapping,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inventory,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interviews</a:t>
            </a:r>
            <a:endParaRPr lang="en-US" sz="850" dirty="0"/>
          </a:p>
        </p:txBody>
      </p:sp>
      <p:sp>
        <p:nvSpPr>
          <p:cNvPr id="46" name="Text 39"/>
          <p:cNvSpPr/>
          <p:nvPr/>
        </p:nvSpPr>
        <p:spPr>
          <a:xfrm>
            <a:off x="2240280" y="3602736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Control-by-control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vs SDAIA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850" dirty="0"/>
          </a:p>
        </p:txBody>
      </p:sp>
      <p:sp>
        <p:nvSpPr>
          <p:cNvPr id="47" name="Text 40"/>
          <p:cNvSpPr/>
          <p:nvPr/>
        </p:nvSpPr>
        <p:spPr>
          <a:xfrm>
            <a:off x="3977640" y="3602736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 scan, website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check, access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audit</a:t>
            </a:r>
            <a:endParaRPr lang="en-US" sz="850" dirty="0"/>
          </a:p>
        </p:txBody>
      </p:sp>
      <p:sp>
        <p:nvSpPr>
          <p:cNvPr id="48" name="Text 41"/>
          <p:cNvSpPr/>
          <p:nvPr/>
        </p:nvSpPr>
        <p:spPr>
          <a:xfrm>
            <a:off x="5715000" y="3602736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+ English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risk ratings,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log</a:t>
            </a:r>
            <a:endParaRPr lang="en-US" sz="850" dirty="0"/>
          </a:p>
        </p:txBody>
      </p:sp>
      <p:sp>
        <p:nvSpPr>
          <p:cNvPr id="49" name="Text 42"/>
          <p:cNvSpPr/>
          <p:nvPr/>
        </p:nvSpPr>
        <p:spPr>
          <a:xfrm>
            <a:off x="7452360" y="3602736"/>
            <a:ext cx="14173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plan with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ownership, priorities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deadlines</a:t>
            </a:r>
            <a:endParaRPr lang="en-US" sz="850" dirty="0"/>
          </a:p>
        </p:txBody>
      </p:sp>
      <p:sp>
        <p:nvSpPr>
          <p:cNvPr id="50" name="Shape 43"/>
          <p:cNvSpPr/>
          <p:nvPr/>
        </p:nvSpPr>
        <p:spPr>
          <a:xfrm>
            <a:off x="256032" y="4434840"/>
            <a:ext cx="8631936" cy="402336"/>
          </a:xfrm>
          <a:prstGeom prst="rect">
            <a:avLst/>
          </a:prstGeom>
          <a:solidFill>
            <a:srgbClr val="25253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1" name="Text 44"/>
          <p:cNvSpPr/>
          <p:nvPr/>
        </p:nvSpPr>
        <p:spPr>
          <a:xfrm>
            <a:off x="320040" y="4434840"/>
            <a:ext cx="8503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1: 5 business days  ·  Tier 2: 2–3 weeks  ·  Tier 3: 6–8 weeks  ·  All deliverables in Arabic and English</a:t>
            </a:r>
            <a:endParaRPr lang="en-US" sz="950" dirty="0"/>
          </a:p>
        </p:txBody>
      </p:sp>
      <p:sp>
        <p:nvSpPr>
          <p:cNvPr id="52" name="Shape 4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3132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3" name="Text 46"/>
          <p:cNvSpPr/>
          <p:nvPr/>
        </p:nvSpPr>
        <p:spPr>
          <a:xfrm>
            <a:off x="320040" y="4773168"/>
            <a:ext cx="85039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SecureArabia  ·  PDPL Compliance Specialists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1828800" cy="256032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SECUREARABIA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51206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Saudi-first. Certified. Bilingual.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201168" y="1170432"/>
            <a:ext cx="54864" cy="749808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457200" cy="457200"/>
          </a:xfrm>
          <a:prstGeom prst="line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44168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32688" y="118872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خبراء معتمدون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32688" y="141732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Specialists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32688" y="1627632"/>
            <a:ext cx="4343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CISA · CIPP/E · ISO 27701 Lead Auditor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lead auditors hold SDAIA-recognised credentials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01168" y="2084832"/>
            <a:ext cx="54864" cy="749808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Shape 11"/>
          <p:cNvSpPr/>
          <p:nvPr/>
        </p:nvSpPr>
        <p:spPr>
          <a:xfrm>
            <a:off x="320040" y="2212848"/>
            <a:ext cx="457200" cy="457200"/>
          </a:xfrm>
          <a:prstGeom prst="line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258568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32688" y="210312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خبرة محلية عميقة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32688" y="233172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KSA Knowledge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32688" y="2542032"/>
            <a:ext cx="4343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specialise in Saudi PDPL enforcement context,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global template applied to KSA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01168" y="2999232"/>
            <a:ext cx="54864" cy="749808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Shape 16"/>
          <p:cNvSpPr/>
          <p:nvPr/>
        </p:nvSpPr>
        <p:spPr>
          <a:xfrm>
            <a:off x="320040" y="3127248"/>
            <a:ext cx="457200" cy="457200"/>
          </a:xfrm>
          <a:prstGeom prst="line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7296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32688" y="301752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أسعار مناسبة للشركات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932688" y="324612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SME-First Pricing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932688" y="3456432"/>
            <a:ext cx="4343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SAR prices for 10–1,000-staff businesses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hourly billing, no hidden costs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201168" y="3913632"/>
            <a:ext cx="54864" cy="749808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Shape 21"/>
          <p:cNvSpPr/>
          <p:nvPr/>
        </p:nvSpPr>
        <p:spPr>
          <a:xfrm>
            <a:off x="320040" y="4041648"/>
            <a:ext cx="457200" cy="457200"/>
          </a:xfrm>
          <a:prstGeom prst="line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087368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32688" y="393192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تقارير عربية كاملة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932688" y="4160520"/>
            <a:ext cx="4206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Arabic Delivery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932688" y="4370832"/>
            <a:ext cx="4343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policies, DPA templates, and training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produced in Arabic and English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5623560" y="1115568"/>
            <a:ext cx="3319272" cy="3675888"/>
          </a:xfrm>
          <a:prstGeom prst="rect">
            <a:avLst/>
          </a:prstGeom>
          <a:solidFill>
            <a:srgbClr val="1C1C2E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32" name="Shape 26"/>
          <p:cNvSpPr/>
          <p:nvPr/>
        </p:nvSpPr>
        <p:spPr>
          <a:xfrm>
            <a:off x="5623560" y="1115568"/>
            <a:ext cx="3319272" cy="64008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3" name="Text 27"/>
          <p:cNvSpPr/>
          <p:nvPr/>
        </p:nvSpPr>
        <p:spPr>
          <a:xfrm>
            <a:off x="5715000" y="1216152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بالأرقام  ·  THE NUMBERS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5696712" y="1645920"/>
            <a:ext cx="1508760" cy="1389888"/>
          </a:xfrm>
          <a:prstGeom prst="rect">
            <a:avLst/>
          </a:prstGeom>
          <a:solidFill>
            <a:srgbClr val="25253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5" name="Text 29"/>
          <p:cNvSpPr/>
          <p:nvPr/>
        </p:nvSpPr>
        <p:spPr>
          <a:xfrm>
            <a:off x="5696712" y="17373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150+</a:t>
            </a:r>
            <a:endParaRPr lang="en-US" sz="2800" dirty="0"/>
          </a:p>
        </p:txBody>
      </p:sp>
      <p:sp>
        <p:nvSpPr>
          <p:cNvPr id="36" name="Text 30"/>
          <p:cNvSpPr/>
          <p:nvPr/>
        </p:nvSpPr>
        <p:spPr>
          <a:xfrm>
            <a:off x="5696712" y="2404872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&amp; GCC SMEs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7342632" y="1645920"/>
            <a:ext cx="1508760" cy="1389888"/>
          </a:xfrm>
          <a:prstGeom prst="rect">
            <a:avLst/>
          </a:prstGeom>
          <a:solidFill>
            <a:srgbClr val="25253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8" name="Text 32"/>
          <p:cNvSpPr/>
          <p:nvPr/>
        </p:nvSpPr>
        <p:spPr>
          <a:xfrm>
            <a:off x="7342632" y="1737360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800" dirty="0"/>
          </a:p>
        </p:txBody>
      </p:sp>
      <p:sp>
        <p:nvSpPr>
          <p:cNvPr id="39" name="Text 33"/>
          <p:cNvSpPr/>
          <p:nvPr/>
        </p:nvSpPr>
        <p:spPr>
          <a:xfrm>
            <a:off x="7342632" y="2404872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5696712" y="3218688"/>
            <a:ext cx="1508760" cy="1389888"/>
          </a:xfrm>
          <a:prstGeom prst="rect">
            <a:avLst/>
          </a:prstGeom>
          <a:solidFill>
            <a:srgbClr val="25253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1" name="Text 35"/>
          <p:cNvSpPr/>
          <p:nvPr/>
        </p:nvSpPr>
        <p:spPr>
          <a:xfrm>
            <a:off x="5696712" y="331012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days</a:t>
            </a:r>
            <a:endParaRPr lang="en-US" sz="2800" dirty="0"/>
          </a:p>
        </p:txBody>
      </p:sp>
      <p:sp>
        <p:nvSpPr>
          <p:cNvPr id="42" name="Text 36"/>
          <p:cNvSpPr/>
          <p:nvPr/>
        </p:nvSpPr>
        <p:spPr>
          <a:xfrm>
            <a:off x="5696712" y="397764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delivery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50" dirty="0"/>
          </a:p>
        </p:txBody>
      </p:sp>
      <p:sp>
        <p:nvSpPr>
          <p:cNvPr id="43" name="Shape 37"/>
          <p:cNvSpPr/>
          <p:nvPr/>
        </p:nvSpPr>
        <p:spPr>
          <a:xfrm>
            <a:off x="7342632" y="3218688"/>
            <a:ext cx="1508760" cy="1389888"/>
          </a:xfrm>
          <a:prstGeom prst="rect">
            <a:avLst/>
          </a:prstGeom>
          <a:solidFill>
            <a:srgbClr val="25253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4" name="Text 38"/>
          <p:cNvSpPr/>
          <p:nvPr/>
        </p:nvSpPr>
        <p:spPr>
          <a:xfrm>
            <a:off x="7342632" y="3310128"/>
            <a:ext cx="1508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492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45" name="Text 39"/>
          <p:cNvSpPr/>
          <p:nvPr/>
        </p:nvSpPr>
        <p:spPr>
          <a:xfrm>
            <a:off x="7342632" y="3977640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Countries: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· UAE · Oman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7" name="Text 41"/>
          <p:cNvSpPr/>
          <p:nvPr/>
        </p:nvSpPr>
        <p:spPr>
          <a:xfrm>
            <a:off x="320040" y="4773168"/>
            <a:ext cx="85039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SecureArabia  ·  PDPL Compliance Specialists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EB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228600" y="164592"/>
            <a:ext cx="1920240" cy="256032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Text 3"/>
          <p:cNvSpPr/>
          <p:nvPr/>
        </p:nvSpPr>
        <p:spPr>
          <a:xfrm>
            <a:off x="228600" y="1645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28600" y="512064"/>
            <a:ext cx="8686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cost of an audit versus the cost of non-compliance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01168" y="1115568"/>
            <a:ext cx="4041648" cy="3456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8" name="Shape 6"/>
          <p:cNvSpPr/>
          <p:nvPr/>
        </p:nvSpPr>
        <p:spPr>
          <a:xfrm>
            <a:off x="201168" y="1115568"/>
            <a:ext cx="4041648" cy="475488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9" name="Text 7"/>
          <p:cNvSpPr/>
          <p:nvPr/>
        </p:nvSpPr>
        <p:spPr>
          <a:xfrm>
            <a:off x="201168" y="1115568"/>
            <a:ext cx="40416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PDPL AUDIT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" y="1737360"/>
            <a:ext cx="3858768" cy="566928"/>
          </a:xfrm>
          <a:prstGeom prst="rect">
            <a:avLst/>
          </a:prstGeom>
          <a:solidFill>
            <a:srgbClr val="EDEAE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9"/>
          <p:cNvSpPr/>
          <p:nvPr/>
        </p:nvSpPr>
        <p:spPr>
          <a:xfrm>
            <a:off x="420624" y="173736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— Readiness Scan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88920" y="1737360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15,000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92608" y="2395728"/>
            <a:ext cx="3858768" cy="566928"/>
          </a:xfrm>
          <a:prstGeom prst="rect">
            <a:avLst/>
          </a:prstGeom>
          <a:solidFill>
            <a:srgbClr val="F8F5F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4" name="Text 12"/>
          <p:cNvSpPr/>
          <p:nvPr/>
        </p:nvSpPr>
        <p:spPr>
          <a:xfrm>
            <a:off x="420624" y="2395728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— Full Audit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88920" y="2395728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35,000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92608" y="3054096"/>
            <a:ext cx="3858768" cy="566928"/>
          </a:xfrm>
          <a:prstGeom prst="rect">
            <a:avLst/>
          </a:prstGeom>
          <a:solidFill>
            <a:srgbClr val="EDEAE2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7" name="Text 15"/>
          <p:cNvSpPr/>
          <p:nvPr/>
        </p:nvSpPr>
        <p:spPr>
          <a:xfrm>
            <a:off x="420624" y="3054096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 — Audit + Remediation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88920" y="3054096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70,000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" y="3712464"/>
            <a:ext cx="3858768" cy="566928"/>
          </a:xfrm>
          <a:prstGeom prst="rect">
            <a:avLst/>
          </a:prstGeom>
          <a:solidFill>
            <a:srgbClr val="F8F5F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0" name="Text 18"/>
          <p:cNvSpPr/>
          <p:nvPr/>
        </p:nvSpPr>
        <p:spPr>
          <a:xfrm>
            <a:off x="420624" y="371246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Retainer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88920" y="3712464"/>
            <a:ext cx="12618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18,000/yr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315968" y="2359152"/>
            <a:ext cx="530352" cy="530352"/>
          </a:xfrm>
          <a:prstGeom prst="line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1"/>
          <p:cNvSpPr/>
          <p:nvPr/>
        </p:nvSpPr>
        <p:spPr>
          <a:xfrm>
            <a:off x="4315968" y="235915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9472" y="1115568"/>
            <a:ext cx="4023360" cy="345643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SE"/>
          </a:p>
        </p:txBody>
      </p:sp>
      <p:sp>
        <p:nvSpPr>
          <p:cNvPr id="25" name="Shape 23"/>
          <p:cNvSpPr/>
          <p:nvPr/>
        </p:nvSpPr>
        <p:spPr>
          <a:xfrm>
            <a:off x="4919472" y="1115568"/>
            <a:ext cx="4023360" cy="475488"/>
          </a:xfrm>
          <a:prstGeom prst="rect">
            <a:avLst/>
          </a:prstGeom>
          <a:solidFill>
            <a:srgbClr val="8B1A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6" name="Text 24"/>
          <p:cNvSpPr/>
          <p:nvPr/>
        </p:nvSpPr>
        <p:spPr>
          <a:xfrm>
            <a:off x="4919472" y="1115568"/>
            <a:ext cx="4023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NON-COMPLIANCE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10912" y="1737360"/>
            <a:ext cx="3840480" cy="566928"/>
          </a:xfrm>
          <a:prstGeom prst="rect">
            <a:avLst/>
          </a:prstGeom>
          <a:solidFill>
            <a:srgbClr val="F7EBE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8" name="Text 26"/>
          <p:cNvSpPr/>
          <p:nvPr/>
        </p:nvSpPr>
        <p:spPr>
          <a:xfrm>
            <a:off x="5138928" y="1737360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SDAIA fine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88352" y="1737360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5,000,000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10912" y="2395728"/>
            <a:ext cx="3840480" cy="566928"/>
          </a:xfrm>
          <a:prstGeom prst="rect">
            <a:avLst/>
          </a:prstGeom>
          <a:solidFill>
            <a:srgbClr val="F8F5F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1" name="Text 29"/>
          <p:cNvSpPr/>
          <p:nvPr/>
        </p:nvSpPr>
        <p:spPr>
          <a:xfrm>
            <a:off x="5138928" y="2395728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breach remediation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388352" y="2395728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SAR 720,000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010912" y="3054096"/>
            <a:ext cx="3840480" cy="566928"/>
          </a:xfrm>
          <a:prstGeom prst="rect">
            <a:avLst/>
          </a:prstGeom>
          <a:solidFill>
            <a:srgbClr val="F7EBEC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4" name="Text 32"/>
          <p:cNvSpPr/>
          <p:nvPr/>
        </p:nvSpPr>
        <p:spPr>
          <a:xfrm>
            <a:off x="5138928" y="3054096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contract exclusion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388352" y="3054096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Potentially permanent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10912" y="3712464"/>
            <a:ext cx="3840480" cy="566928"/>
          </a:xfrm>
          <a:prstGeom prst="rect">
            <a:avLst/>
          </a:prstGeom>
          <a:solidFill>
            <a:srgbClr val="F8F5F0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7" name="Text 35"/>
          <p:cNvSpPr/>
          <p:nvPr/>
        </p:nvSpPr>
        <p:spPr>
          <a:xfrm>
            <a:off x="5138928" y="3712464"/>
            <a:ext cx="2606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Reputational damage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388352" y="3712464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8B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Unquantifiable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01168" y="4663440"/>
            <a:ext cx="8741664" cy="347472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0" name="Text 38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Tier 2 audit at SAR 35,000 is just 0.7% of the maximum potential PDPL fine — one of the highest-ROI investments a Saudi SME can make.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C1C2E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2" name="Text 40"/>
          <p:cNvSpPr/>
          <p:nvPr/>
        </p:nvSpPr>
        <p:spPr>
          <a:xfrm>
            <a:off x="320040" y="4773168"/>
            <a:ext cx="850392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SecureArabia  ·  PDPL Compliance Specialists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8B1A2E">
              <a:alpha val="18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3" name="Shape 1"/>
          <p:cNvSpPr/>
          <p:nvPr/>
        </p:nvSpPr>
        <p:spPr>
          <a:xfrm>
            <a:off x="7223760" y="0"/>
            <a:ext cx="1920240" cy="5143500"/>
          </a:xfrm>
          <a:prstGeom prst="rect">
            <a:avLst/>
          </a:prstGeom>
          <a:solidFill>
            <a:srgbClr val="8B1A2E">
              <a:alpha val="30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4" name="Shape 2"/>
          <p:cNvSpPr/>
          <p:nvPr/>
        </p:nvSpPr>
        <p:spPr>
          <a:xfrm>
            <a:off x="8412480" y="0"/>
            <a:ext cx="731520" cy="5143500"/>
          </a:xfrm>
          <a:prstGeom prst="rect">
            <a:avLst/>
          </a:prstGeom>
          <a:solidFill>
            <a:srgbClr val="D4922A">
              <a:alpha val="45000"/>
            </a:srgbClr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82296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6032"/>
            <a:ext cx="5852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D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الخطوات التالية  ·  NEXT STEPS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77240" y="594360"/>
            <a:ext cx="566928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Begin your PDPL</a:t>
            </a:r>
            <a:endParaRPr lang="en-US" sz="3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journey</a:t>
            </a:r>
            <a:endParaRPr lang="en-US" sz="3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today.</a:t>
            </a:r>
            <a:endParaRPr lang="en-US" sz="3600" dirty="0"/>
          </a:p>
        </p:txBody>
      </p:sp>
      <p:sp>
        <p:nvSpPr>
          <p:cNvPr id="9" name="Shape 6"/>
          <p:cNvSpPr/>
          <p:nvPr/>
        </p:nvSpPr>
        <p:spPr>
          <a:xfrm>
            <a:off x="777240" y="2194560"/>
            <a:ext cx="1828800" cy="45720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0" name="Shape 7"/>
          <p:cNvSpPr/>
          <p:nvPr/>
        </p:nvSpPr>
        <p:spPr>
          <a:xfrm>
            <a:off x="777240" y="2432304"/>
            <a:ext cx="384048" cy="384048"/>
          </a:xfrm>
          <a:prstGeom prst="line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1" name="Text 8"/>
          <p:cNvSpPr/>
          <p:nvPr/>
        </p:nvSpPr>
        <p:spPr>
          <a:xfrm>
            <a:off x="777240" y="24323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261872" y="23408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30-min discovery call — بدون رسوم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261872" y="2615184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assess your situation and recommend the right audit tier for your business.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77240" y="3090672"/>
            <a:ext cx="384048" cy="384048"/>
          </a:xfrm>
          <a:prstGeom prst="line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5" name="Text 12"/>
          <p:cNvSpPr/>
          <p:nvPr/>
        </p:nvSpPr>
        <p:spPr>
          <a:xfrm>
            <a:off x="777240" y="3090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261872" y="29992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SAR proposal within 48 hours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261872" y="32735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price — no hourly billing, no surprises, no additional scope creep.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777240" y="3749040"/>
            <a:ext cx="384048" cy="384048"/>
          </a:xfrm>
          <a:prstGeom prst="line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19" name="Text 16"/>
          <p:cNvSpPr/>
          <p:nvPr/>
        </p:nvSpPr>
        <p:spPr>
          <a:xfrm>
            <a:off x="777240" y="3749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261872" y="3657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Fieldwork starts within one week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261872" y="393192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work around your schedule with minimal disruption to daily operations.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777240" y="4407408"/>
            <a:ext cx="384048" cy="384048"/>
          </a:xfrm>
          <a:prstGeom prst="line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3" name="Text 20"/>
          <p:cNvSpPr/>
          <p:nvPr/>
        </p:nvSpPr>
        <p:spPr>
          <a:xfrm>
            <a:off x="777240" y="4407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261872" y="43159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your Arabic + English audit report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261872" y="4590288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2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prioritised remediation roadmap your team can act on immediately.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77240" y="4590288"/>
            <a:ext cx="5440680" cy="438912"/>
          </a:xfrm>
          <a:prstGeom prst="rect">
            <a:avLst/>
          </a:prstGeom>
          <a:solidFill>
            <a:srgbClr val="252538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7" name="Shape 24"/>
          <p:cNvSpPr/>
          <p:nvPr/>
        </p:nvSpPr>
        <p:spPr>
          <a:xfrm>
            <a:off x="777240" y="4590288"/>
            <a:ext cx="45720" cy="438912"/>
          </a:xfrm>
          <a:prstGeom prst="rect">
            <a:avLst/>
          </a:prstGeom>
          <a:solidFill>
            <a:srgbClr val="D4922A"/>
          </a:solidFill>
          <a:ln/>
        </p:spPr>
        <p:txBody>
          <a:bodyPr/>
          <a:lstStyle/>
          <a:p>
            <a:endParaRPr lang="en-SE"/>
          </a:p>
        </p:txBody>
      </p:sp>
      <p:sp>
        <p:nvSpPr>
          <p:cNvPr id="28" name="Text 25"/>
          <p:cNvSpPr/>
          <p:nvPr/>
        </p:nvSpPr>
        <p:spPr>
          <a:xfrm>
            <a:off x="896112" y="4590288"/>
            <a:ext cx="52852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0C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pdpl@securearabia.com  ·  +966 11 XXX XXXX  ·  www.securearabia.com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5a79a5c-c4fd-4fa9-8b3c-06ef3c09de7d}" enabled="1" method="Privileged" siteId="{a33c6ac4-a52e-45c5-af07-b972df9bd004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1067</Words>
  <Application>Microsoft Macintosh PowerPoint</Application>
  <PresentationFormat>On-screen Show (16:9)</PresentationFormat>
  <Paragraphs>275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Georgia</vt:lpstr>
      <vt:lpstr>Noto IKEA Latin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KSA PDPL Compliance — SecureArabia</dc:title>
  <dc:subject>PptxGenJS Presentation</dc:subject>
  <dc:creator>PptxGenJS</dc:creator>
  <cp:lastModifiedBy>Moiz Ahmed Syed</cp:lastModifiedBy>
  <cp:revision>2</cp:revision>
  <dcterms:created xsi:type="dcterms:W3CDTF">2026-03-12T09:31:07Z</dcterms:created>
  <dcterms:modified xsi:type="dcterms:W3CDTF">2026-03-12T09:58:54Z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Confidential</vt:lpwstr>
  </property>
</Properties>
</file>