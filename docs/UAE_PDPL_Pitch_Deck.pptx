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6302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7851FD-EA71-5E11-8246-21C2A5581D0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281488" y="4958080"/>
            <a:ext cx="60801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E" sz="800">
                <a:solidFill>
                  <a:srgbClr val="5A5A5A">
                    <a:alpha val="50000"/>
                  </a:srgbClr>
                </a:solidFill>
                <a:latin typeface="Noto IKEA Latin" panose="020B0502040504020204" pitchFamily="34" charset="0"/>
              </a:rPr>
              <a:t>Confidential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7C8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73152" cy="5143500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Shape 2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B4F8A">
              <a:alpha val="20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" name="Shape 3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0D7C8F">
              <a:alpha val="30000"/>
            </a:srgbClr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09728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8229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DATA PROTECTION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234440"/>
            <a:ext cx="6217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Your Business</a:t>
            </a:r>
            <a:endParaRPr lang="en-US" sz="4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PDPL Compliant?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22960" y="297180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 compliance audit protects your UAE business from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 up to AED 5,000,000 — and builds trust with your customers.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2907792"/>
            <a:ext cx="1645920" cy="36576"/>
          </a:xfrm>
          <a:prstGeom prst="rect">
            <a:avLst/>
          </a:prstGeom>
          <a:solidFill>
            <a:srgbClr val="C8963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1" name="Shape 8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D1E35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Text 9"/>
          <p:cNvSpPr/>
          <p:nvPr/>
        </p:nvSpPr>
        <p:spPr>
          <a:xfrm>
            <a:off x="822960" y="4617720"/>
            <a:ext cx="54864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</a:rPr>
              <a:t>SecureArabia Cybersecurity Consulting  ·  Riyadh  ·  Dubai  ·  Muscat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58000" y="4617720"/>
            <a:ext cx="20116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963E"/>
                </a:solidFill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8963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Shape 1"/>
          <p:cNvSpPr/>
          <p:nvPr/>
        </p:nvSpPr>
        <p:spPr>
          <a:xfrm>
            <a:off x="228600" y="201168"/>
            <a:ext cx="1581912" cy="256032"/>
          </a:xfrm>
          <a:prstGeom prst="rect">
            <a:avLst/>
          </a:prstGeom>
          <a:solidFill>
            <a:srgbClr val="C8963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228600" y="20116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THE CHALLENGE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UAE data protection law is now actively enforced.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SMEs are unprepared — and the consequences are significant.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1600200"/>
            <a:ext cx="2651760" cy="2560320"/>
          </a:xfrm>
          <a:prstGeom prst="rect">
            <a:avLst/>
          </a:prstGeom>
          <a:solidFill>
            <a:srgbClr val="151F2E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8" name="Shape 6"/>
          <p:cNvSpPr/>
          <p:nvPr/>
        </p:nvSpPr>
        <p:spPr>
          <a:xfrm>
            <a:off x="228600" y="1600200"/>
            <a:ext cx="2651760" cy="64008"/>
          </a:xfrm>
          <a:prstGeom prst="rect">
            <a:avLst/>
          </a:prstGeom>
          <a:solidFill>
            <a:srgbClr val="D35400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78308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22860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AED 5,000,000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20040" y="290779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fine under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Federal DPL No. 45/2021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54680" y="1600200"/>
            <a:ext cx="2651760" cy="2560320"/>
          </a:xfrm>
          <a:prstGeom prst="rect">
            <a:avLst/>
          </a:prstGeom>
          <a:solidFill>
            <a:srgbClr val="151F2E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3" name="Shape 10"/>
          <p:cNvSpPr/>
          <p:nvPr/>
        </p:nvSpPr>
        <p:spPr>
          <a:xfrm>
            <a:off x="3154680" y="1600200"/>
            <a:ext cx="2651760" cy="640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78308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46120" y="22860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 Hours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3246120" y="290779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notify authorities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personal data breach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80760" y="1600200"/>
            <a:ext cx="2651760" cy="2560320"/>
          </a:xfrm>
          <a:prstGeom prst="rect">
            <a:avLst/>
          </a:prstGeom>
          <a:solidFill>
            <a:srgbClr val="151F2E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8" name="Shape 14"/>
          <p:cNvSpPr/>
          <p:nvPr/>
        </p:nvSpPr>
        <p:spPr>
          <a:xfrm>
            <a:off x="6080760" y="1600200"/>
            <a:ext cx="2651760" cy="64008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78308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72200" y="22860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Regimes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6172200" y="290779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· DIFC · ADGM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with different requirements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228600" y="4315968"/>
            <a:ext cx="8686800" cy="594360"/>
          </a:xfrm>
          <a:prstGeom prst="rect">
            <a:avLst/>
          </a:prstGeom>
          <a:solidFill>
            <a:srgbClr val="1C2E45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407408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22960" y="4315968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(KSA) and UAE authorities have begun active enforcement. SMEs that cannot demonstrate compliance face fines, operational disruption, and reputational damage.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E35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6" name="Text 20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</a:rPr>
              <a:t>SecureArabia  ·  UAE Data Protection Specialists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64008" cy="5088636"/>
          </a:xfrm>
          <a:prstGeom prst="rect">
            <a:avLst/>
          </a:prstGeom>
          <a:solidFill>
            <a:srgbClr val="0D7C8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Shape 2"/>
          <p:cNvSpPr/>
          <p:nvPr/>
        </p:nvSpPr>
        <p:spPr>
          <a:xfrm>
            <a:off x="228600" y="164592"/>
            <a:ext cx="1581912" cy="25603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" name="Text 3"/>
          <p:cNvSpPr/>
          <p:nvPr/>
        </p:nvSpPr>
        <p:spPr>
          <a:xfrm>
            <a:off x="228600" y="164592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UAE FRAMEWORK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5029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regimes. One wrong assumption can cost you.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01168" y="1143000"/>
            <a:ext cx="2788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8" name="Shape 6"/>
          <p:cNvSpPr/>
          <p:nvPr/>
        </p:nvSpPr>
        <p:spPr>
          <a:xfrm>
            <a:off x="201168" y="1143000"/>
            <a:ext cx="2788920" cy="457200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201168" y="11430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FEDERAL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0896" y="1691640"/>
            <a:ext cx="2578608" cy="658368"/>
          </a:xfrm>
          <a:prstGeom prst="rect">
            <a:avLst/>
          </a:prstGeom>
          <a:solidFill>
            <a:srgbClr val="D4E4F7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365760" y="172821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193852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Decree-Law No. 45/2021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896" y="2441448"/>
            <a:ext cx="2578608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365760" y="247802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68833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Mainland UAE companies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(DED licensed)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0896" y="3191256"/>
            <a:ext cx="2578608" cy="658368"/>
          </a:xfrm>
          <a:prstGeom prst="rect">
            <a:avLst/>
          </a:prstGeom>
          <a:solidFill>
            <a:srgbClr val="D4E4F7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365760" y="32278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5760" y="343814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Cabinet / TRA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0896" y="3941064"/>
            <a:ext cx="2578608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365760" y="39776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Fine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" y="41879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5,000,000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72968" y="1143000"/>
            <a:ext cx="2788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3" name="Shape 21"/>
          <p:cNvSpPr/>
          <p:nvPr/>
        </p:nvSpPr>
        <p:spPr>
          <a:xfrm>
            <a:off x="3172968" y="1143000"/>
            <a:ext cx="2788920" cy="457200"/>
          </a:xfrm>
          <a:prstGeom prst="rect">
            <a:avLst/>
          </a:prstGeom>
          <a:solidFill>
            <a:srgbClr val="0D7C8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3172968" y="11430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DIFC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82696" y="1691640"/>
            <a:ext cx="2578608" cy="658368"/>
          </a:xfrm>
          <a:prstGeom prst="rect">
            <a:avLst/>
          </a:prstGeom>
          <a:solidFill>
            <a:srgbClr val="D0EEF2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3337560" y="172821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37560" y="193852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DIFC Law No. 5/2020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(GDPR-equivalent)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82696" y="2441448"/>
            <a:ext cx="2578608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3337560" y="247802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37560" y="268833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DIFC free zone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entities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82696" y="3191256"/>
            <a:ext cx="2578608" cy="658368"/>
          </a:xfrm>
          <a:prstGeom prst="rect">
            <a:avLst/>
          </a:prstGeom>
          <a:solidFill>
            <a:srgbClr val="D0EEF2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2" name="Text 30"/>
          <p:cNvSpPr/>
          <p:nvPr/>
        </p:nvSpPr>
        <p:spPr>
          <a:xfrm>
            <a:off x="3337560" y="32278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37560" y="343814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DIFC Commissioner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Protection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82696" y="3941064"/>
            <a:ext cx="2578608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3337560" y="39776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Fine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337560" y="41879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100,000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44768" y="1143000"/>
            <a:ext cx="2788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8" name="Shape 36"/>
          <p:cNvSpPr/>
          <p:nvPr/>
        </p:nvSpPr>
        <p:spPr>
          <a:xfrm>
            <a:off x="6144768" y="1143000"/>
            <a:ext cx="2788920" cy="457200"/>
          </a:xfrm>
          <a:prstGeom prst="rect">
            <a:avLst/>
          </a:prstGeom>
          <a:solidFill>
            <a:srgbClr val="C8963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9" name="Text 37"/>
          <p:cNvSpPr/>
          <p:nvPr/>
        </p:nvSpPr>
        <p:spPr>
          <a:xfrm>
            <a:off x="6144768" y="11430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ADGM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254496" y="1691640"/>
            <a:ext cx="2578608" cy="658368"/>
          </a:xfrm>
          <a:prstGeom prst="rect">
            <a:avLst/>
          </a:prstGeom>
          <a:solidFill>
            <a:srgbClr val="F7EDD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1" name="Text 39"/>
          <p:cNvSpPr/>
          <p:nvPr/>
        </p:nvSpPr>
        <p:spPr>
          <a:xfrm>
            <a:off x="6309360" y="172821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309360" y="193852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ADGM Data Protection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Regulations 2021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54496" y="2441448"/>
            <a:ext cx="2578608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4" name="Text 42"/>
          <p:cNvSpPr/>
          <p:nvPr/>
        </p:nvSpPr>
        <p:spPr>
          <a:xfrm>
            <a:off x="6309360" y="247802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309360" y="268833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ADGM free zone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entities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54496" y="3191256"/>
            <a:ext cx="2578608" cy="658368"/>
          </a:xfrm>
          <a:prstGeom prst="rect">
            <a:avLst/>
          </a:prstGeom>
          <a:solidFill>
            <a:srgbClr val="F7EDD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7" name="Text 45"/>
          <p:cNvSpPr/>
          <p:nvPr/>
        </p:nvSpPr>
        <p:spPr>
          <a:xfrm>
            <a:off x="6309360" y="32278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309360" y="343814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ADGM Registration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54496" y="3941064"/>
            <a:ext cx="2578608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0" name="Text 48"/>
          <p:cNvSpPr/>
          <p:nvPr/>
        </p:nvSpPr>
        <p:spPr>
          <a:xfrm>
            <a:off x="6309360" y="39776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Fine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309360" y="41879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28,000,000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01168" y="4681728"/>
            <a:ext cx="8741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If your business operates across multiple jurisdictions, all applicable frameworks must be addressed simultaneously.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4" name="Text 52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</a:rPr>
              <a:t>SecureArabia  ·  UAE Data Protection Audit Specialists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7C8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Shape 1"/>
          <p:cNvSpPr/>
          <p:nvPr/>
        </p:nvSpPr>
        <p:spPr>
          <a:xfrm>
            <a:off x="228600" y="201168"/>
            <a:ext cx="1380744" cy="256032"/>
          </a:xfrm>
          <a:prstGeom prst="rect">
            <a:avLst/>
          </a:prstGeom>
          <a:solidFill>
            <a:srgbClr val="0D7C8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228600" y="201168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COMMON GAPS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typically find in UAE SME audits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01168" y="1261872"/>
            <a:ext cx="2788920" cy="1572768"/>
          </a:xfrm>
          <a:prstGeom prst="rect">
            <a:avLst/>
          </a:prstGeom>
          <a:solidFill>
            <a:srgbClr val="131E2E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7" name="Shape 5"/>
          <p:cNvSpPr/>
          <p:nvPr/>
        </p:nvSpPr>
        <p:spPr>
          <a:xfrm>
            <a:off x="201168" y="1261872"/>
            <a:ext cx="54864" cy="157276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1426464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9536" y="1371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859536" y="179222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UAE SMEs audited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65760" y="213055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Privacy Policy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or outdated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172968" y="1261872"/>
            <a:ext cx="2788920" cy="1572768"/>
          </a:xfrm>
          <a:prstGeom prst="rect">
            <a:avLst/>
          </a:prstGeom>
          <a:solidFill>
            <a:srgbClr val="131E2E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3" name="Shape 10"/>
          <p:cNvSpPr/>
          <p:nvPr/>
        </p:nvSpPr>
        <p:spPr>
          <a:xfrm>
            <a:off x="3172968" y="1261872"/>
            <a:ext cx="54864" cy="157276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136" y="1426464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31336" y="1371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79%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3831336" y="179222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UAE SMEs audited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3337560" y="213055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consent mechanism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website or app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144768" y="1261872"/>
            <a:ext cx="2788920" cy="1572768"/>
          </a:xfrm>
          <a:prstGeom prst="rect">
            <a:avLst/>
          </a:prstGeom>
          <a:solidFill>
            <a:srgbClr val="131E2E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9" name="Shape 15"/>
          <p:cNvSpPr/>
          <p:nvPr/>
        </p:nvSpPr>
        <p:spPr>
          <a:xfrm>
            <a:off x="6144768" y="1261872"/>
            <a:ext cx="54864" cy="1572768"/>
          </a:xfrm>
          <a:prstGeom prst="rect">
            <a:avLst/>
          </a:prstGeom>
          <a:solidFill>
            <a:srgbClr val="D35400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1426464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03136" y="1371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35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2800" dirty="0"/>
          </a:p>
        </p:txBody>
      </p:sp>
      <p:sp>
        <p:nvSpPr>
          <p:cNvPr id="22" name="Text 17"/>
          <p:cNvSpPr/>
          <p:nvPr/>
        </p:nvSpPr>
        <p:spPr>
          <a:xfrm>
            <a:off x="6803136" y="179222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UAE SMEs audited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6309360" y="213055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Protection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appointed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201168" y="2999232"/>
            <a:ext cx="2788920" cy="1572768"/>
          </a:xfrm>
          <a:prstGeom prst="rect">
            <a:avLst/>
          </a:prstGeom>
          <a:solidFill>
            <a:srgbClr val="131E2E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5" name="Shape 20"/>
          <p:cNvSpPr/>
          <p:nvPr/>
        </p:nvSpPr>
        <p:spPr>
          <a:xfrm>
            <a:off x="201168" y="2999232"/>
            <a:ext cx="54864" cy="157276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" y="3163824"/>
            <a:ext cx="402336" cy="40233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59536" y="3108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81%</a:t>
            </a:r>
            <a:endParaRPr lang="en-US" sz="2800" dirty="0"/>
          </a:p>
        </p:txBody>
      </p:sp>
      <p:sp>
        <p:nvSpPr>
          <p:cNvPr id="28" name="Text 22"/>
          <p:cNvSpPr/>
          <p:nvPr/>
        </p:nvSpPr>
        <p:spPr>
          <a:xfrm>
            <a:off x="859536" y="352958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UAE SMEs audited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365760" y="386791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Processing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Agreements with vendors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3172968" y="2999232"/>
            <a:ext cx="2788920" cy="1572768"/>
          </a:xfrm>
          <a:prstGeom prst="rect">
            <a:avLst/>
          </a:prstGeom>
          <a:solidFill>
            <a:srgbClr val="131E2E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1" name="Shape 25"/>
          <p:cNvSpPr/>
          <p:nvPr/>
        </p:nvSpPr>
        <p:spPr>
          <a:xfrm>
            <a:off x="3172968" y="2999232"/>
            <a:ext cx="54864" cy="157276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4136" y="3163824"/>
            <a:ext cx="402336" cy="40233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831336" y="3108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91%</a:t>
            </a:r>
            <a:endParaRPr lang="en-US" sz="2800" dirty="0"/>
          </a:p>
        </p:txBody>
      </p:sp>
      <p:sp>
        <p:nvSpPr>
          <p:cNvPr id="34" name="Text 27"/>
          <p:cNvSpPr/>
          <p:nvPr/>
        </p:nvSpPr>
        <p:spPr>
          <a:xfrm>
            <a:off x="3831336" y="352958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UAE SMEs audited</a:t>
            </a:r>
            <a:endParaRPr lang="en-US" sz="850" dirty="0"/>
          </a:p>
        </p:txBody>
      </p:sp>
      <p:sp>
        <p:nvSpPr>
          <p:cNvPr id="35" name="Text 28"/>
          <p:cNvSpPr/>
          <p:nvPr/>
        </p:nvSpPr>
        <p:spPr>
          <a:xfrm>
            <a:off x="3337560" y="386791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breach notification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in place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6144768" y="2999232"/>
            <a:ext cx="2788920" cy="1572768"/>
          </a:xfrm>
          <a:prstGeom prst="rect">
            <a:avLst/>
          </a:prstGeom>
          <a:solidFill>
            <a:srgbClr val="131E2E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7" name="Shape 30"/>
          <p:cNvSpPr/>
          <p:nvPr/>
        </p:nvSpPr>
        <p:spPr>
          <a:xfrm>
            <a:off x="6144768" y="2999232"/>
            <a:ext cx="54864" cy="1572768"/>
          </a:xfrm>
          <a:prstGeom prst="rect">
            <a:avLst/>
          </a:prstGeom>
          <a:solidFill>
            <a:srgbClr val="D35400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5936" y="3163824"/>
            <a:ext cx="402336" cy="40233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803136" y="3108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35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</a:t>
            </a:r>
            <a:endParaRPr lang="en-US" sz="2800" dirty="0"/>
          </a:p>
        </p:txBody>
      </p:sp>
      <p:sp>
        <p:nvSpPr>
          <p:cNvPr id="40" name="Text 32"/>
          <p:cNvSpPr/>
          <p:nvPr/>
        </p:nvSpPr>
        <p:spPr>
          <a:xfrm>
            <a:off x="6803136" y="352958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UAE SMEs audited</a:t>
            </a:r>
            <a:endParaRPr lang="en-US" sz="850" dirty="0"/>
          </a:p>
        </p:txBody>
      </p:sp>
      <p:sp>
        <p:nvSpPr>
          <p:cNvPr id="41" name="Text 33"/>
          <p:cNvSpPr/>
          <p:nvPr/>
        </p:nvSpPr>
        <p:spPr>
          <a:xfrm>
            <a:off x="6309360" y="386791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Activities</a:t>
            </a:r>
            <a:endParaRPr lang="en-US" sz="1050" dirty="0"/>
          </a:p>
        </p:txBody>
      </p:sp>
      <p:sp>
        <p:nvSpPr>
          <p:cNvPr id="42" name="Shape 3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E35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3" name="Text 35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</a:rPr>
              <a:t>SecureArabia  ·  Based on UAE SME audit findings 2024–2025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C8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64008" cy="5088636"/>
          </a:xfrm>
          <a:prstGeom prst="rect">
            <a:avLst/>
          </a:prstGeom>
          <a:solidFill>
            <a:srgbClr val="0D7C8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Shape 2"/>
          <p:cNvSpPr/>
          <p:nvPr/>
        </p:nvSpPr>
        <p:spPr>
          <a:xfrm>
            <a:off x="228600" y="164592"/>
            <a:ext cx="1481328" cy="256032"/>
          </a:xfrm>
          <a:prstGeom prst="rect">
            <a:avLst/>
          </a:prstGeom>
          <a:solidFill>
            <a:srgbClr val="0D7C8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" name="Text 3"/>
          <p:cNvSpPr/>
          <p:nvPr/>
        </p:nvSpPr>
        <p:spPr>
          <a:xfrm>
            <a:off x="228600" y="16459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OUR SERVICES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5029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clear packages. One path to compliance.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01168" y="1115568"/>
            <a:ext cx="2788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8" name="Shape 6"/>
          <p:cNvSpPr/>
          <p:nvPr/>
        </p:nvSpPr>
        <p:spPr>
          <a:xfrm>
            <a:off x="201168" y="1115568"/>
            <a:ext cx="2788920" cy="822960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310896" y="115214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10896" y="137160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Readiness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10896" y="2029968"/>
            <a:ext cx="2578608" cy="502920"/>
          </a:xfrm>
          <a:prstGeom prst="rect">
            <a:avLst/>
          </a:prstGeom>
          <a:solidFill>
            <a:srgbClr val="D4E4F7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310896" y="202996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AED 11,000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38528" y="2029968"/>
            <a:ext cx="950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days</a:t>
            </a:r>
            <a:endParaRPr lang="en-US" sz="9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2697480"/>
            <a:ext cx="164592" cy="16459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85216" y="26517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vs your applicable law</a:t>
            </a:r>
            <a:endParaRPr lang="en-US" sz="9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3099816"/>
            <a:ext cx="164592" cy="16459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85216" y="305409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mapping interview</a:t>
            </a:r>
            <a:endParaRPr lang="en-US" sz="9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3502152"/>
            <a:ext cx="164592" cy="1645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85216" y="34564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report + priority action list</a:t>
            </a:r>
            <a:endParaRPr lang="en-US" sz="9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3904488"/>
            <a:ext cx="164592" cy="1645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85216" y="38587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findings summary</a:t>
            </a:r>
            <a:endParaRPr lang="en-US" sz="9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4306824"/>
            <a:ext cx="164592" cy="16459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85216" y="426110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first-time assessment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3172968" y="1115568"/>
            <a:ext cx="2788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5" name="Shape 18"/>
          <p:cNvSpPr/>
          <p:nvPr/>
        </p:nvSpPr>
        <p:spPr>
          <a:xfrm>
            <a:off x="3172968" y="1115568"/>
            <a:ext cx="2788920" cy="822960"/>
          </a:xfrm>
          <a:prstGeom prst="rect">
            <a:avLst/>
          </a:prstGeom>
          <a:solidFill>
            <a:srgbClr val="0D7C8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6" name="Text 19"/>
          <p:cNvSpPr/>
          <p:nvPr/>
        </p:nvSpPr>
        <p:spPr>
          <a:xfrm>
            <a:off x="3282696" y="115214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3282696" y="137160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Compliance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3282696" y="2029968"/>
            <a:ext cx="2578608" cy="502920"/>
          </a:xfrm>
          <a:prstGeom prst="rect">
            <a:avLst/>
          </a:prstGeom>
          <a:solidFill>
            <a:srgbClr val="D0EEF2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9" name="Text 22"/>
          <p:cNvSpPr/>
          <p:nvPr/>
        </p:nvSpPr>
        <p:spPr>
          <a:xfrm>
            <a:off x="3282696" y="202996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AED 28,000</a:t>
            </a:r>
            <a:endParaRPr lang="en-US" sz="1800" dirty="0"/>
          </a:p>
        </p:txBody>
      </p:sp>
      <p:sp>
        <p:nvSpPr>
          <p:cNvPr id="30" name="Text 23"/>
          <p:cNvSpPr/>
          <p:nvPr/>
        </p:nvSpPr>
        <p:spPr>
          <a:xfrm>
            <a:off x="4910328" y="2029968"/>
            <a:ext cx="950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weeks</a:t>
            </a:r>
            <a:endParaRPr lang="en-US" sz="95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2697480"/>
            <a:ext cx="164592" cy="16459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57016" y="26517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Tier 1</a:t>
            </a:r>
            <a:endParaRPr lang="en-US" sz="95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3099816"/>
            <a:ext cx="164592" cy="16459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3557016" y="305409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vulnerability scan</a:t>
            </a:r>
            <a:endParaRPr lang="en-US" sz="95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3502152"/>
            <a:ext cx="164592" cy="16459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3557016" y="34564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procedure review</a:t>
            </a:r>
            <a:endParaRPr lang="en-US" sz="950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3904488"/>
            <a:ext cx="164592" cy="164592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3557016" y="38587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&amp; cookie compliance check</a:t>
            </a:r>
            <a:endParaRPr lang="en-US" sz="950" dirty="0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4306824"/>
            <a:ext cx="164592" cy="164592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3557016" y="426110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audit report + roadmap</a:t>
            </a:r>
            <a:endParaRPr lang="en-US" sz="950" dirty="0"/>
          </a:p>
        </p:txBody>
      </p:sp>
      <p:sp>
        <p:nvSpPr>
          <p:cNvPr id="41" name="Shape 29"/>
          <p:cNvSpPr/>
          <p:nvPr/>
        </p:nvSpPr>
        <p:spPr>
          <a:xfrm>
            <a:off x="6144768" y="1115568"/>
            <a:ext cx="2788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42" name="Shape 30"/>
          <p:cNvSpPr/>
          <p:nvPr/>
        </p:nvSpPr>
        <p:spPr>
          <a:xfrm>
            <a:off x="6144768" y="1115568"/>
            <a:ext cx="2788920" cy="822960"/>
          </a:xfrm>
          <a:prstGeom prst="rect">
            <a:avLst/>
          </a:prstGeom>
          <a:solidFill>
            <a:srgbClr val="C8963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3" name="Text 31"/>
          <p:cNvSpPr/>
          <p:nvPr/>
        </p:nvSpPr>
        <p:spPr>
          <a:xfrm>
            <a:off x="6254496" y="115214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850" dirty="0"/>
          </a:p>
        </p:txBody>
      </p:sp>
      <p:sp>
        <p:nvSpPr>
          <p:cNvPr id="44" name="Text 32"/>
          <p:cNvSpPr/>
          <p:nvPr/>
        </p:nvSpPr>
        <p:spPr>
          <a:xfrm>
            <a:off x="6254496" y="137160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+ Remediation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</a:t>
            </a:r>
            <a:endParaRPr lang="en-US" sz="1500" dirty="0"/>
          </a:p>
        </p:txBody>
      </p:sp>
      <p:sp>
        <p:nvSpPr>
          <p:cNvPr id="45" name="Shape 33"/>
          <p:cNvSpPr/>
          <p:nvPr/>
        </p:nvSpPr>
        <p:spPr>
          <a:xfrm>
            <a:off x="6254496" y="2029968"/>
            <a:ext cx="2578608" cy="502920"/>
          </a:xfrm>
          <a:prstGeom prst="rect">
            <a:avLst/>
          </a:prstGeom>
          <a:solidFill>
            <a:srgbClr val="F7EDD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6" name="Text 34"/>
          <p:cNvSpPr/>
          <p:nvPr/>
        </p:nvSpPr>
        <p:spPr>
          <a:xfrm>
            <a:off x="6254496" y="202996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AED 58,000</a:t>
            </a:r>
            <a:endParaRPr lang="en-US" sz="1800" dirty="0"/>
          </a:p>
        </p:txBody>
      </p:sp>
      <p:sp>
        <p:nvSpPr>
          <p:cNvPr id="47" name="Text 35"/>
          <p:cNvSpPr/>
          <p:nvPr/>
        </p:nvSpPr>
        <p:spPr>
          <a:xfrm>
            <a:off x="7882128" y="2029968"/>
            <a:ext cx="950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weeks</a:t>
            </a:r>
            <a:endParaRPr lang="en-US" sz="950" dirty="0"/>
          </a:p>
        </p:txBody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697480"/>
            <a:ext cx="164592" cy="164592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6528816" y="26517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Tier 2</a:t>
            </a:r>
            <a:endParaRPr lang="en-US" sz="950" dirty="0"/>
          </a:p>
        </p:txBody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3099816"/>
            <a:ext cx="164592" cy="164592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6528816" y="305409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remediation handholding</a:t>
            </a:r>
            <a:endParaRPr lang="en-US" sz="950" dirty="0"/>
          </a:p>
        </p:txBody>
      </p:sp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3502152"/>
            <a:ext cx="164592" cy="164592"/>
          </a:xfrm>
          <a:prstGeom prst="rect">
            <a:avLst/>
          </a:prstGeom>
        </p:spPr>
      </p:pic>
      <p:sp>
        <p:nvSpPr>
          <p:cNvPr id="53" name="Text 38"/>
          <p:cNvSpPr/>
          <p:nvPr/>
        </p:nvSpPr>
        <p:spPr>
          <a:xfrm>
            <a:off x="6528816" y="34564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templates &amp; DPA drafts</a:t>
            </a:r>
            <a:endParaRPr lang="en-US" sz="950" dirty="0"/>
          </a:p>
        </p:txBody>
      </p:sp>
      <p:pic>
        <p:nvPicPr>
          <p:cNvPr id="54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3904488"/>
            <a:ext cx="164592" cy="164592"/>
          </a:xfrm>
          <a:prstGeom prst="rect">
            <a:avLst/>
          </a:prstGeom>
        </p:spPr>
      </p:pic>
      <p:sp>
        <p:nvSpPr>
          <p:cNvPr id="55" name="Text 39"/>
          <p:cNvSpPr/>
          <p:nvPr/>
        </p:nvSpPr>
        <p:spPr>
          <a:xfrm>
            <a:off x="6528816" y="38587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awareness training</a:t>
            </a:r>
            <a:endParaRPr lang="en-US" sz="950" dirty="0"/>
          </a:p>
        </p:txBody>
      </p:sp>
      <p:pic>
        <p:nvPicPr>
          <p:cNvPr id="56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4306824"/>
            <a:ext cx="164592" cy="164592"/>
          </a:xfrm>
          <a:prstGeom prst="rect">
            <a:avLst/>
          </a:prstGeom>
        </p:spPr>
      </p:pic>
      <p:sp>
        <p:nvSpPr>
          <p:cNvPr id="57" name="Text 40"/>
          <p:cNvSpPr/>
          <p:nvPr/>
        </p:nvSpPr>
        <p:spPr>
          <a:xfrm>
            <a:off x="6528816" y="426110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retainer option included</a:t>
            </a:r>
            <a:endParaRPr lang="en-US" sz="950" dirty="0"/>
          </a:p>
        </p:txBody>
      </p:sp>
      <p:sp>
        <p:nvSpPr>
          <p:cNvPr id="58" name="Text 41"/>
          <p:cNvSpPr/>
          <p:nvPr/>
        </p:nvSpPr>
        <p:spPr>
          <a:xfrm>
            <a:off x="201168" y="4818888"/>
            <a:ext cx="8741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compliance retainer available from AED 14,000/year — includes quarterly reviews and unlimited advice.</a:t>
            </a:r>
            <a:endParaRPr lang="en-US" sz="900" dirty="0"/>
          </a:p>
        </p:txBody>
      </p:sp>
      <p:sp>
        <p:nvSpPr>
          <p:cNvPr id="59" name="Shape 4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0" name="Text 43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</a:rPr>
              <a:t>SecureArabia  ·  UAE Data Protection Audit Specialists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8963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Shape 1"/>
          <p:cNvSpPr/>
          <p:nvPr/>
        </p:nvSpPr>
        <p:spPr>
          <a:xfrm>
            <a:off x="228600" y="201168"/>
            <a:ext cx="1380744" cy="256032"/>
          </a:xfrm>
          <a:prstGeom prst="rect">
            <a:avLst/>
          </a:prstGeom>
          <a:solidFill>
            <a:srgbClr val="C8963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228600" y="201168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OUR PROCESS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deliver your audit — start to finish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664208" y="2606040"/>
            <a:ext cx="274320" cy="36576"/>
          </a:xfrm>
          <a:prstGeom prst="rect">
            <a:avLst/>
          </a:prstGeom>
          <a:solidFill>
            <a:srgbClr val="8A9BB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7" name="Shape 5"/>
          <p:cNvSpPr/>
          <p:nvPr/>
        </p:nvSpPr>
        <p:spPr>
          <a:xfrm>
            <a:off x="1892808" y="2542032"/>
            <a:ext cx="36576" cy="164592"/>
          </a:xfrm>
          <a:prstGeom prst="rect">
            <a:avLst/>
          </a:prstGeom>
          <a:solidFill>
            <a:srgbClr val="8A9BB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Shape 6"/>
          <p:cNvSpPr/>
          <p:nvPr/>
        </p:nvSpPr>
        <p:spPr>
          <a:xfrm>
            <a:off x="1929384" y="2542032"/>
            <a:ext cx="109728" cy="36576"/>
          </a:xfrm>
          <a:prstGeom prst="rect">
            <a:avLst/>
          </a:prstGeom>
          <a:solidFill>
            <a:srgbClr val="8A9BB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9" name="Shape 7"/>
          <p:cNvSpPr/>
          <p:nvPr/>
        </p:nvSpPr>
        <p:spPr>
          <a:xfrm>
            <a:off x="1929384" y="2670048"/>
            <a:ext cx="109728" cy="36576"/>
          </a:xfrm>
          <a:prstGeom prst="rect">
            <a:avLst/>
          </a:prstGeom>
          <a:solidFill>
            <a:srgbClr val="8A9BB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0" name="Shape 8"/>
          <p:cNvSpPr/>
          <p:nvPr/>
        </p:nvSpPr>
        <p:spPr>
          <a:xfrm>
            <a:off x="585216" y="1261872"/>
            <a:ext cx="694944" cy="694944"/>
          </a:xfrm>
          <a:prstGeom prst="line">
            <a:avLst/>
          </a:prstGeom>
          <a:solidFill>
            <a:srgbClr val="1B4F8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585216" y="126187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121408"/>
            <a:ext cx="438912" cy="43891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292608" y="2057400"/>
            <a:ext cx="1280160" cy="566928"/>
          </a:xfrm>
          <a:prstGeom prst="rect">
            <a:avLst/>
          </a:prstGeom>
          <a:solidFill>
            <a:srgbClr val="1B4F8A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03120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6888" y="272491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Intake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Scoping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46888" y="329184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selection,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inventory,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interviews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401568" y="2606040"/>
            <a:ext cx="274320" cy="36576"/>
          </a:xfrm>
          <a:prstGeom prst="rect">
            <a:avLst/>
          </a:prstGeom>
          <a:solidFill>
            <a:srgbClr val="8A9BB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8" name="Shape 14"/>
          <p:cNvSpPr/>
          <p:nvPr/>
        </p:nvSpPr>
        <p:spPr>
          <a:xfrm>
            <a:off x="3630168" y="2542032"/>
            <a:ext cx="36576" cy="164592"/>
          </a:xfrm>
          <a:prstGeom prst="rect">
            <a:avLst/>
          </a:prstGeom>
          <a:solidFill>
            <a:srgbClr val="8A9BB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9" name="Shape 15"/>
          <p:cNvSpPr/>
          <p:nvPr/>
        </p:nvSpPr>
        <p:spPr>
          <a:xfrm>
            <a:off x="3666744" y="2542032"/>
            <a:ext cx="109728" cy="36576"/>
          </a:xfrm>
          <a:prstGeom prst="rect">
            <a:avLst/>
          </a:prstGeom>
          <a:solidFill>
            <a:srgbClr val="8A9BB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0" name="Shape 16"/>
          <p:cNvSpPr/>
          <p:nvPr/>
        </p:nvSpPr>
        <p:spPr>
          <a:xfrm>
            <a:off x="3666744" y="2670048"/>
            <a:ext cx="109728" cy="36576"/>
          </a:xfrm>
          <a:prstGeom prst="rect">
            <a:avLst/>
          </a:prstGeom>
          <a:solidFill>
            <a:srgbClr val="8A9BB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1" name="Shape 17"/>
          <p:cNvSpPr/>
          <p:nvPr/>
        </p:nvSpPr>
        <p:spPr>
          <a:xfrm>
            <a:off x="2322576" y="1261872"/>
            <a:ext cx="694944" cy="694944"/>
          </a:xfrm>
          <a:prstGeom prst="line">
            <a:avLst/>
          </a:prstGeom>
          <a:solidFill>
            <a:srgbClr val="0D7C8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2" name="Text 18"/>
          <p:cNvSpPr/>
          <p:nvPr/>
        </p:nvSpPr>
        <p:spPr>
          <a:xfrm>
            <a:off x="2322576" y="126187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1448" y="2121408"/>
            <a:ext cx="438912" cy="438912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2029968" y="2057400"/>
            <a:ext cx="1280160" cy="566928"/>
          </a:xfrm>
          <a:prstGeom prst="rect">
            <a:avLst/>
          </a:prstGeom>
          <a:solidFill>
            <a:srgbClr val="0D7C8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2103120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984248" y="272491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984248" y="329184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Control-by-control review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applicable UAE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law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138928" y="2606040"/>
            <a:ext cx="274320" cy="36576"/>
          </a:xfrm>
          <a:prstGeom prst="rect">
            <a:avLst/>
          </a:prstGeom>
          <a:solidFill>
            <a:srgbClr val="8A9BB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9" name="Shape 23"/>
          <p:cNvSpPr/>
          <p:nvPr/>
        </p:nvSpPr>
        <p:spPr>
          <a:xfrm>
            <a:off x="5367528" y="2542032"/>
            <a:ext cx="36576" cy="164592"/>
          </a:xfrm>
          <a:prstGeom prst="rect">
            <a:avLst/>
          </a:prstGeom>
          <a:solidFill>
            <a:srgbClr val="8A9BB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0" name="Shape 24"/>
          <p:cNvSpPr/>
          <p:nvPr/>
        </p:nvSpPr>
        <p:spPr>
          <a:xfrm>
            <a:off x="5404104" y="2542032"/>
            <a:ext cx="109728" cy="36576"/>
          </a:xfrm>
          <a:prstGeom prst="rect">
            <a:avLst/>
          </a:prstGeom>
          <a:solidFill>
            <a:srgbClr val="8A9BB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1" name="Shape 25"/>
          <p:cNvSpPr/>
          <p:nvPr/>
        </p:nvSpPr>
        <p:spPr>
          <a:xfrm>
            <a:off x="5404104" y="2670048"/>
            <a:ext cx="109728" cy="36576"/>
          </a:xfrm>
          <a:prstGeom prst="rect">
            <a:avLst/>
          </a:prstGeom>
          <a:solidFill>
            <a:srgbClr val="8A9BB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2" name="Shape 26"/>
          <p:cNvSpPr/>
          <p:nvPr/>
        </p:nvSpPr>
        <p:spPr>
          <a:xfrm>
            <a:off x="4059936" y="1261872"/>
            <a:ext cx="694944" cy="694944"/>
          </a:xfrm>
          <a:prstGeom prst="line">
            <a:avLst/>
          </a:prstGeom>
          <a:solidFill>
            <a:srgbClr val="1B4F8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3" name="Text 27"/>
          <p:cNvSpPr/>
          <p:nvPr/>
        </p:nvSpPr>
        <p:spPr>
          <a:xfrm>
            <a:off x="4059936" y="126187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8808" y="2121408"/>
            <a:ext cx="438912" cy="438912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3767328" y="2057400"/>
            <a:ext cx="1280160" cy="566928"/>
          </a:xfrm>
          <a:prstGeom prst="rect">
            <a:avLst/>
          </a:prstGeom>
          <a:solidFill>
            <a:srgbClr val="1B4F8A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2103120"/>
            <a:ext cx="384048" cy="38404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3721608" y="272491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3721608" y="329184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compliance,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audit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6876288" y="2606040"/>
            <a:ext cx="274320" cy="36576"/>
          </a:xfrm>
          <a:prstGeom prst="rect">
            <a:avLst/>
          </a:prstGeom>
          <a:solidFill>
            <a:srgbClr val="8A9BB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0" name="Shape 32"/>
          <p:cNvSpPr/>
          <p:nvPr/>
        </p:nvSpPr>
        <p:spPr>
          <a:xfrm>
            <a:off x="7104888" y="2542032"/>
            <a:ext cx="36576" cy="164592"/>
          </a:xfrm>
          <a:prstGeom prst="rect">
            <a:avLst/>
          </a:prstGeom>
          <a:solidFill>
            <a:srgbClr val="8A9BB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1" name="Shape 33"/>
          <p:cNvSpPr/>
          <p:nvPr/>
        </p:nvSpPr>
        <p:spPr>
          <a:xfrm>
            <a:off x="7141464" y="2542032"/>
            <a:ext cx="109728" cy="36576"/>
          </a:xfrm>
          <a:prstGeom prst="rect">
            <a:avLst/>
          </a:prstGeom>
          <a:solidFill>
            <a:srgbClr val="8A9BB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2" name="Shape 34"/>
          <p:cNvSpPr/>
          <p:nvPr/>
        </p:nvSpPr>
        <p:spPr>
          <a:xfrm>
            <a:off x="7141464" y="2670048"/>
            <a:ext cx="109728" cy="36576"/>
          </a:xfrm>
          <a:prstGeom prst="rect">
            <a:avLst/>
          </a:prstGeom>
          <a:solidFill>
            <a:srgbClr val="8A9BB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3" name="Shape 35"/>
          <p:cNvSpPr/>
          <p:nvPr/>
        </p:nvSpPr>
        <p:spPr>
          <a:xfrm>
            <a:off x="5797296" y="1261872"/>
            <a:ext cx="694944" cy="694944"/>
          </a:xfrm>
          <a:prstGeom prst="line">
            <a:avLst/>
          </a:prstGeom>
          <a:solidFill>
            <a:srgbClr val="0D7C8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4" name="Text 36"/>
          <p:cNvSpPr/>
          <p:nvPr/>
        </p:nvSpPr>
        <p:spPr>
          <a:xfrm>
            <a:off x="5797296" y="126187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6168" y="2121408"/>
            <a:ext cx="438912" cy="438912"/>
          </a:xfrm>
          <a:prstGeom prst="rect">
            <a:avLst/>
          </a:prstGeom>
        </p:spPr>
      </p:pic>
      <p:sp>
        <p:nvSpPr>
          <p:cNvPr id="46" name="Shape 37"/>
          <p:cNvSpPr/>
          <p:nvPr/>
        </p:nvSpPr>
        <p:spPr>
          <a:xfrm>
            <a:off x="5504688" y="2057400"/>
            <a:ext cx="1280160" cy="566928"/>
          </a:xfrm>
          <a:prstGeom prst="rect">
            <a:avLst/>
          </a:prstGeom>
          <a:solidFill>
            <a:srgbClr val="0D7C8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7880" y="2103120"/>
            <a:ext cx="384048" cy="384048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5458968" y="272491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</a:t>
            </a:r>
            <a:endParaRPr lang="en-US" sz="1200" dirty="0"/>
          </a:p>
        </p:txBody>
      </p:sp>
      <p:sp>
        <p:nvSpPr>
          <p:cNvPr id="49" name="Text 39"/>
          <p:cNvSpPr/>
          <p:nvPr/>
        </p:nvSpPr>
        <p:spPr>
          <a:xfrm>
            <a:off x="5458968" y="329184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audit report,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ratings, evidence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900" dirty="0"/>
          </a:p>
        </p:txBody>
      </p:sp>
      <p:sp>
        <p:nvSpPr>
          <p:cNvPr id="50" name="Shape 40"/>
          <p:cNvSpPr/>
          <p:nvPr/>
        </p:nvSpPr>
        <p:spPr>
          <a:xfrm>
            <a:off x="7534656" y="1261872"/>
            <a:ext cx="694944" cy="694944"/>
          </a:xfrm>
          <a:prstGeom prst="line">
            <a:avLst/>
          </a:prstGeom>
          <a:solidFill>
            <a:srgbClr val="C8963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1" name="Text 41"/>
          <p:cNvSpPr/>
          <p:nvPr/>
        </p:nvSpPr>
        <p:spPr>
          <a:xfrm>
            <a:off x="7534656" y="126187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3528" y="2121408"/>
            <a:ext cx="438912" cy="438912"/>
          </a:xfrm>
          <a:prstGeom prst="rect">
            <a:avLst/>
          </a:prstGeom>
        </p:spPr>
      </p:pic>
      <p:sp>
        <p:nvSpPr>
          <p:cNvPr id="53" name="Shape 42"/>
          <p:cNvSpPr/>
          <p:nvPr/>
        </p:nvSpPr>
        <p:spPr>
          <a:xfrm>
            <a:off x="7242048" y="2057400"/>
            <a:ext cx="1280160" cy="566928"/>
          </a:xfrm>
          <a:prstGeom prst="rect">
            <a:avLst/>
          </a:prstGeom>
          <a:solidFill>
            <a:srgbClr val="C8963E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pic>
        <p:nvPicPr>
          <p:cNvPr id="54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2103120"/>
            <a:ext cx="384048" cy="384048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7196328" y="272491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Remediation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1200" dirty="0"/>
          </a:p>
        </p:txBody>
      </p:sp>
      <p:sp>
        <p:nvSpPr>
          <p:cNvPr id="56" name="Text 44"/>
          <p:cNvSpPr/>
          <p:nvPr/>
        </p:nvSpPr>
        <p:spPr>
          <a:xfrm>
            <a:off x="7196328" y="329184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90-day plan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owners, deadlines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effort ratings</a:t>
            </a:r>
            <a:endParaRPr lang="en-US" sz="900" dirty="0"/>
          </a:p>
        </p:txBody>
      </p:sp>
      <p:sp>
        <p:nvSpPr>
          <p:cNvPr id="57" name="Shape 45"/>
          <p:cNvSpPr/>
          <p:nvPr/>
        </p:nvSpPr>
        <p:spPr>
          <a:xfrm>
            <a:off x="201168" y="4224528"/>
            <a:ext cx="8741664" cy="548640"/>
          </a:xfrm>
          <a:prstGeom prst="rect">
            <a:avLst/>
          </a:prstGeom>
          <a:solidFill>
            <a:srgbClr val="131E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8" name="Text 46"/>
          <p:cNvSpPr/>
          <p:nvPr/>
        </p:nvSpPr>
        <p:spPr>
          <a:xfrm>
            <a:off x="274320" y="422452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Tier 1 completion: 5 business days   ·   Tier 2: 2–3 weeks   ·   Tier 3: 6–8 weeks   ·   All reports delivered in English and Arabic</a:t>
            </a:r>
            <a:endParaRPr lang="en-US" sz="1000" dirty="0"/>
          </a:p>
        </p:txBody>
      </p:sp>
      <p:sp>
        <p:nvSpPr>
          <p:cNvPr id="59" name="Shape 4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E35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0" name="Text 48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</a:rPr>
              <a:t>SecureArabia  ·  UAE Data Protection Audit Specialists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64008" cy="508863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Shape 2"/>
          <p:cNvSpPr/>
          <p:nvPr/>
        </p:nvSpPr>
        <p:spPr>
          <a:xfrm>
            <a:off x="228600" y="164592"/>
            <a:ext cx="1883664" cy="25603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" name="Text 3"/>
          <p:cNvSpPr/>
          <p:nvPr/>
        </p:nvSpPr>
        <p:spPr>
          <a:xfrm>
            <a:off x="228600" y="16459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WHY SECUREARABIA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5029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the Middle East. Specialized in data protection.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01168" y="1170432"/>
            <a:ext cx="54864" cy="749808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Shape 6"/>
          <p:cNvSpPr/>
          <p:nvPr/>
        </p:nvSpPr>
        <p:spPr>
          <a:xfrm>
            <a:off x="320040" y="1280160"/>
            <a:ext cx="502920" cy="502920"/>
          </a:xfrm>
          <a:prstGeom prst="line">
            <a:avLst/>
          </a:prstGeom>
          <a:solidFill>
            <a:srgbClr val="1B4F8A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316736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12070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Specialists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60120" y="148132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· CIPP/E · ISO 27701 Lead Auditor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auditors hold recognised data protection credentials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01168" y="2093976"/>
            <a:ext cx="54864" cy="749808"/>
          </a:xfrm>
          <a:prstGeom prst="rect">
            <a:avLst/>
          </a:prstGeom>
          <a:solidFill>
            <a:srgbClr val="0D7C8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3" name="Shape 10"/>
          <p:cNvSpPr/>
          <p:nvPr/>
        </p:nvSpPr>
        <p:spPr>
          <a:xfrm>
            <a:off x="320040" y="2203704"/>
            <a:ext cx="502920" cy="502920"/>
          </a:xfrm>
          <a:prstGeom prst="line">
            <a:avLst/>
          </a:prstGeom>
          <a:solidFill>
            <a:srgbClr val="0D7C8F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2240280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60120" y="21305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Multi-Jurisdiction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960120" y="240487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expertise across UAE Federal, DIFC, ADGM, and KSA PDPL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firm for your entire GCC compliance programme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201168" y="3017520"/>
            <a:ext cx="54864" cy="749808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8" name="Shape 14"/>
          <p:cNvSpPr/>
          <p:nvPr/>
        </p:nvSpPr>
        <p:spPr>
          <a:xfrm>
            <a:off x="320040" y="3127248"/>
            <a:ext cx="502920" cy="502920"/>
          </a:xfrm>
          <a:prstGeom prst="line">
            <a:avLst/>
          </a:prstGeom>
          <a:solidFill>
            <a:srgbClr val="1B4F8A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3163824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60120" y="30540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SME-First Approach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960120" y="3328416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Fixed-price packages designed for businesses of 10–500 staff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hidden fees. Practical reports your team can act on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201168" y="3941064"/>
            <a:ext cx="54864" cy="749808"/>
          </a:xfrm>
          <a:prstGeom prst="rect">
            <a:avLst/>
          </a:prstGeom>
          <a:solidFill>
            <a:srgbClr val="0D7C8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3" name="Shape 18"/>
          <p:cNvSpPr/>
          <p:nvPr/>
        </p:nvSpPr>
        <p:spPr>
          <a:xfrm>
            <a:off x="320040" y="4050792"/>
            <a:ext cx="502920" cy="502920"/>
          </a:xfrm>
          <a:prstGeom prst="line">
            <a:avLst/>
          </a:prstGeom>
          <a:solidFill>
            <a:srgbClr val="0D7C8F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" y="4087368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60120" y="3977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Delivery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60120" y="425196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reports and communications in Arabic and English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notices, policies, and training materials included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5486400" y="1115568"/>
            <a:ext cx="3456432" cy="370332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8" name="Shape 22"/>
          <p:cNvSpPr/>
          <p:nvPr/>
        </p:nvSpPr>
        <p:spPr>
          <a:xfrm>
            <a:off x="5486400" y="1115568"/>
            <a:ext cx="3456432" cy="64008"/>
          </a:xfrm>
          <a:prstGeom prst="rect">
            <a:avLst/>
          </a:prstGeom>
          <a:solidFill>
            <a:srgbClr val="0D7C8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9" name="Text 23"/>
          <p:cNvSpPr/>
          <p:nvPr/>
        </p:nvSpPr>
        <p:spPr>
          <a:xfrm>
            <a:off x="5577840" y="1207008"/>
            <a:ext cx="3273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577840" y="1691640"/>
            <a:ext cx="1554480" cy="1371600"/>
          </a:xfrm>
          <a:prstGeom prst="rect">
            <a:avLst/>
          </a:prstGeom>
          <a:solidFill>
            <a:srgbClr val="131E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1" name="Text 25"/>
          <p:cNvSpPr/>
          <p:nvPr/>
        </p:nvSpPr>
        <p:spPr>
          <a:xfrm>
            <a:off x="5577840" y="1801368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120+</a:t>
            </a:r>
            <a:endParaRPr lang="en-US" sz="3000" dirty="0"/>
          </a:p>
        </p:txBody>
      </p:sp>
      <p:sp>
        <p:nvSpPr>
          <p:cNvPr id="32" name="Text 26"/>
          <p:cNvSpPr/>
          <p:nvPr/>
        </p:nvSpPr>
        <p:spPr>
          <a:xfrm>
            <a:off x="5577840" y="2404872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&amp; KSA SMEs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to date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7296912" y="1691640"/>
            <a:ext cx="1554480" cy="1371600"/>
          </a:xfrm>
          <a:prstGeom prst="rect">
            <a:avLst/>
          </a:prstGeom>
          <a:solidFill>
            <a:srgbClr val="131E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4" name="Text 28"/>
          <p:cNvSpPr/>
          <p:nvPr/>
        </p:nvSpPr>
        <p:spPr>
          <a:xfrm>
            <a:off x="7296912" y="1801368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98%</a:t>
            </a:r>
            <a:endParaRPr lang="en-US" sz="3000" dirty="0"/>
          </a:p>
        </p:txBody>
      </p:sp>
      <p:sp>
        <p:nvSpPr>
          <p:cNvPr id="35" name="Text 29"/>
          <p:cNvSpPr/>
          <p:nvPr/>
        </p:nvSpPr>
        <p:spPr>
          <a:xfrm>
            <a:off x="7296912" y="2404872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satisfaction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5577840" y="3246120"/>
            <a:ext cx="1554480" cy="1371600"/>
          </a:xfrm>
          <a:prstGeom prst="rect">
            <a:avLst/>
          </a:prstGeom>
          <a:solidFill>
            <a:srgbClr val="131E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7" name="Text 31"/>
          <p:cNvSpPr/>
          <p:nvPr/>
        </p:nvSpPr>
        <p:spPr>
          <a:xfrm>
            <a:off x="5577840" y="3355848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days</a:t>
            </a:r>
            <a:endParaRPr lang="en-US" sz="3000" dirty="0"/>
          </a:p>
        </p:txBody>
      </p:sp>
      <p:sp>
        <p:nvSpPr>
          <p:cNvPr id="38" name="Text 32"/>
          <p:cNvSpPr/>
          <p:nvPr/>
        </p:nvSpPr>
        <p:spPr>
          <a:xfrm>
            <a:off x="5577840" y="3959352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Tier 1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7296912" y="3246120"/>
            <a:ext cx="1554480" cy="1371600"/>
          </a:xfrm>
          <a:prstGeom prst="rect">
            <a:avLst/>
          </a:prstGeom>
          <a:solidFill>
            <a:srgbClr val="131E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0" name="Text 34"/>
          <p:cNvSpPr/>
          <p:nvPr/>
        </p:nvSpPr>
        <p:spPr>
          <a:xfrm>
            <a:off x="7296912" y="3355848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41" name="Text 35"/>
          <p:cNvSpPr/>
          <p:nvPr/>
        </p:nvSpPr>
        <p:spPr>
          <a:xfrm>
            <a:off x="7296912" y="3959352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covered: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· UAE · Oman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3" name="Text 37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</a:rPr>
              <a:t>SecureArabia  ·  UAE Data Protection Audit Specialists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8963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Shape 1"/>
          <p:cNvSpPr/>
          <p:nvPr/>
        </p:nvSpPr>
        <p:spPr>
          <a:xfrm>
            <a:off x="228600" y="201168"/>
            <a:ext cx="1883664" cy="256032"/>
          </a:xfrm>
          <a:prstGeom prst="rect">
            <a:avLst/>
          </a:prstGeom>
          <a:solidFill>
            <a:srgbClr val="C8963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228600" y="20116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INVESTMENT &amp; ROI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compliance vs. the cost of non-compliance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01168" y="1207008"/>
            <a:ext cx="4023360" cy="3337560"/>
          </a:xfrm>
          <a:prstGeom prst="rect">
            <a:avLst/>
          </a:prstGeom>
          <a:solidFill>
            <a:srgbClr val="131E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7" name="Shape 5"/>
          <p:cNvSpPr/>
          <p:nvPr/>
        </p:nvSpPr>
        <p:spPr>
          <a:xfrm>
            <a:off x="201168" y="1207008"/>
            <a:ext cx="4023360" cy="457200"/>
          </a:xfrm>
          <a:prstGeom prst="rect">
            <a:avLst/>
          </a:prstGeom>
          <a:solidFill>
            <a:srgbClr val="0D7C8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201168" y="120700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A COMPLIANCE AUDIT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" y="1828800"/>
            <a:ext cx="3840480" cy="530352"/>
          </a:xfrm>
          <a:prstGeom prst="rect">
            <a:avLst/>
          </a:prstGeom>
          <a:solidFill>
            <a:srgbClr val="1C2E45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411480" y="182880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Readiness Scan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26080" y="1828800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AED 11,000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2608" y="2468880"/>
            <a:ext cx="3840480" cy="530352"/>
          </a:xfrm>
          <a:prstGeom prst="rect">
            <a:avLst/>
          </a:prstGeom>
          <a:solidFill>
            <a:srgbClr val="192839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411480" y="246888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Full Audit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26080" y="2468880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AED 28,000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2608" y="3108960"/>
            <a:ext cx="3840480" cy="530352"/>
          </a:xfrm>
          <a:prstGeom prst="rect">
            <a:avLst/>
          </a:prstGeom>
          <a:solidFill>
            <a:srgbClr val="1C2E45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411480" y="310896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Audit + Remediation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926080" y="3108960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AED 58,000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2608" y="3749040"/>
            <a:ext cx="3840480" cy="530352"/>
          </a:xfrm>
          <a:prstGeom prst="rect">
            <a:avLst/>
          </a:prstGeom>
          <a:solidFill>
            <a:srgbClr val="192839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411480" y="374904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Retainer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926080" y="3749040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AED 14,000/yr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15968" y="2240280"/>
            <a:ext cx="548640" cy="548640"/>
          </a:xfrm>
          <a:prstGeom prst="line">
            <a:avLst/>
          </a:prstGeom>
          <a:solidFill>
            <a:srgbClr val="C8963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4315968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56048" y="1207008"/>
            <a:ext cx="3986784" cy="3337560"/>
          </a:xfrm>
          <a:prstGeom prst="rect">
            <a:avLst/>
          </a:prstGeom>
          <a:solidFill>
            <a:srgbClr val="1A0A0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4" name="Shape 22"/>
          <p:cNvSpPr/>
          <p:nvPr/>
        </p:nvSpPr>
        <p:spPr>
          <a:xfrm>
            <a:off x="4956048" y="1207008"/>
            <a:ext cx="3986784" cy="4572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4956048" y="1207008"/>
            <a:ext cx="3986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NON-COMPLIANCE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47488" y="1828800"/>
            <a:ext cx="3803904" cy="530352"/>
          </a:xfrm>
          <a:prstGeom prst="rect">
            <a:avLst/>
          </a:prstGeom>
          <a:solidFill>
            <a:srgbClr val="26101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5166360" y="182880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regulatory fine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06640" y="1828800"/>
            <a:ext cx="1261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AED 5,000,000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47488" y="2468880"/>
            <a:ext cx="3803904" cy="530352"/>
          </a:xfrm>
          <a:prstGeom prst="rect">
            <a:avLst/>
          </a:prstGeom>
          <a:solidFill>
            <a:srgbClr val="1E0C0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5166360" y="246888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breach remediation cost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06640" y="2468880"/>
            <a:ext cx="1261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AED 890,000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47488" y="3108960"/>
            <a:ext cx="3803904" cy="530352"/>
          </a:xfrm>
          <a:prstGeom prst="rect">
            <a:avLst/>
          </a:prstGeom>
          <a:solidFill>
            <a:srgbClr val="26101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5166360" y="310896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after breach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06640" y="3108960"/>
            <a:ext cx="1261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 to 30%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47488" y="3749040"/>
            <a:ext cx="3803904" cy="530352"/>
          </a:xfrm>
          <a:prstGeom prst="rect">
            <a:avLst/>
          </a:prstGeom>
          <a:solidFill>
            <a:srgbClr val="1E0C0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6" name="Text 34"/>
          <p:cNvSpPr/>
          <p:nvPr/>
        </p:nvSpPr>
        <p:spPr>
          <a:xfrm>
            <a:off x="5166360" y="374904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Reputational damage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406640" y="3749040"/>
            <a:ext cx="1261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Incalculable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01168" y="4663440"/>
            <a:ext cx="8741664" cy="347472"/>
          </a:xfrm>
          <a:prstGeom prst="rect">
            <a:avLst/>
          </a:prstGeom>
          <a:solidFill>
            <a:srgbClr val="0D7C8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9" name="Text 37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Tier 2 audit at AED 28,000 represents just 0.56% of the maximum potential fine.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E35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1" name="Text 39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</a:rPr>
              <a:t>SecureArabia  ·  UAE Data Protection Audit Specialists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B4F8A">
              <a:alpha val="20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D7C8F">
              <a:alpha val="30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7C8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" name="Shape 3"/>
          <p:cNvSpPr/>
          <p:nvPr/>
        </p:nvSpPr>
        <p:spPr>
          <a:xfrm>
            <a:off x="457200" y="0"/>
            <a:ext cx="54864" cy="5143500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914400"/>
            <a:ext cx="1645920" cy="1645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5603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31520" y="640080"/>
            <a:ext cx="5943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your UAE compliance</a:t>
            </a:r>
            <a:endParaRPr lang="en-US" sz="3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journey today.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731520" y="2176272"/>
            <a:ext cx="1463040" cy="36576"/>
          </a:xfrm>
          <a:prstGeom prst="rect">
            <a:avLst/>
          </a:prstGeom>
          <a:solidFill>
            <a:srgbClr val="C8963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0" name="Shape 7"/>
          <p:cNvSpPr/>
          <p:nvPr/>
        </p:nvSpPr>
        <p:spPr>
          <a:xfrm>
            <a:off x="731520" y="2340864"/>
            <a:ext cx="384048" cy="384048"/>
          </a:xfrm>
          <a:prstGeom prst="line">
            <a:avLst/>
          </a:prstGeom>
          <a:solidFill>
            <a:srgbClr val="0D7C8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1" name="Text 8"/>
          <p:cNvSpPr/>
          <p:nvPr/>
        </p:nvSpPr>
        <p:spPr>
          <a:xfrm>
            <a:off x="731520" y="2340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207008" y="230428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free 30-minute discovery call — we assess your situation at no cost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1520" y="2907792"/>
            <a:ext cx="384048" cy="384048"/>
          </a:xfrm>
          <a:prstGeom prst="line">
            <a:avLst/>
          </a:prstGeom>
          <a:solidFill>
            <a:srgbClr val="0D7C8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4" name="Text 11"/>
          <p:cNvSpPr/>
          <p:nvPr/>
        </p:nvSpPr>
        <p:spPr>
          <a:xfrm>
            <a:off x="731520" y="2907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207008" y="287121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 scoped proposal within 48 hours, fixed price with no surprises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31520" y="3474720"/>
            <a:ext cx="384048" cy="384048"/>
          </a:xfrm>
          <a:prstGeom prst="line">
            <a:avLst/>
          </a:prstGeom>
          <a:solidFill>
            <a:srgbClr val="0D7C8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7" name="Text 14"/>
          <p:cNvSpPr/>
          <p:nvPr/>
        </p:nvSpPr>
        <p:spPr>
          <a:xfrm>
            <a:off x="731520" y="3474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207008" y="343814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Fieldwork begins within one week of agreement — minimal business disruption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31520" y="4041648"/>
            <a:ext cx="384048" cy="384048"/>
          </a:xfrm>
          <a:prstGeom prst="line">
            <a:avLst/>
          </a:prstGeom>
          <a:solidFill>
            <a:srgbClr val="0D7C8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0" name="Text 17"/>
          <p:cNvSpPr/>
          <p:nvPr/>
        </p:nvSpPr>
        <p:spPr>
          <a:xfrm>
            <a:off x="73152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207008" y="400507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your audit report with a clear, prioritized remediation roadmap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31520" y="4572000"/>
            <a:ext cx="5303520" cy="457200"/>
          </a:xfrm>
          <a:prstGeom prst="rect">
            <a:avLst/>
          </a:prstGeom>
          <a:solidFill>
            <a:srgbClr val="131E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3" name="Text 20"/>
          <p:cNvSpPr/>
          <p:nvPr/>
        </p:nvSpPr>
        <p:spPr>
          <a:xfrm>
            <a:off x="777240" y="45720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audits@securearabia.com   ·   +971 4 XXX XXXX   ·   www.securearabia.com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5a79a5c-c4fd-4fa9-8b3c-06ef3c09de7d}" enabled="1" method="Privileged" siteId="{a33c6ac4-a52e-45c5-af07-b972df9bd004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880</Words>
  <Application>Microsoft Macintosh PowerPoint</Application>
  <PresentationFormat>On-screen Show (16:9)</PresentationFormat>
  <Paragraphs>226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Georgia</vt:lpstr>
      <vt:lpstr>Noto IKEA Latin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UAE Data Protection Compliance — SecureArabia</dc:title>
  <dc:subject>PptxGenJS Presentation</dc:subject>
  <dc:creator>PptxGenJS</dc:creator>
  <cp:lastModifiedBy>Moiz Ahmed Syed</cp:lastModifiedBy>
  <cp:revision>2</cp:revision>
  <dcterms:created xsi:type="dcterms:W3CDTF">2026-03-12T09:10:06Z</dcterms:created>
  <dcterms:modified xsi:type="dcterms:W3CDTF">2026-03-12T09:19:00Z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Confidential</vt:lpwstr>
  </property>
</Properties>
</file>