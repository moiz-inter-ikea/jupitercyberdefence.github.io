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C1530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0"/>
            <a:ext cx="1737360" cy="5143500"/>
          </a:xfrm>
          <a:prstGeom prst="rect">
            <a:avLst/>
          </a:prstGeom>
          <a:solidFill>
            <a:srgbClr val="1050A8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0D8A9A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" y="0"/>
            <a:ext cx="64008" cy="5143500"/>
          </a:xfrm>
          <a:prstGeom prst="rect">
            <a:avLst/>
          </a:prstGeom>
          <a:solidFill>
            <a:srgbClr val="1A6E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731520"/>
            <a:ext cx="2103120" cy="2103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256032"/>
            <a:ext cx="2743200" cy="310896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256032"/>
            <a:ext cx="36576" cy="310896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256032"/>
            <a:ext cx="2615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D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74320" y="65836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Security Confidence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1005840"/>
            <a:ext cx="55778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 Data Protection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Audit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74320" y="2487168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UAE business compliant with Federal DPL No. 45/2021, DIFC, or ADGM data protection law?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reach AED 5,000,000.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3310128"/>
            <a:ext cx="1719072" cy="402336"/>
          </a:xfrm>
          <a:prstGeom prst="rect">
            <a:avLst/>
          </a:prstGeom>
          <a:solidFill>
            <a:srgbClr val="1A6ED8">
              <a:alpha val="78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274320" y="3310128"/>
            <a:ext cx="1719072" cy="36576"/>
          </a:xfrm>
          <a:prstGeom prst="rect">
            <a:avLst/>
          </a:prstGeom>
          <a:solidFill>
            <a:srgbClr val="1A6ED8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3346704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FEDERAL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121408" y="3310128"/>
            <a:ext cx="1719072" cy="402336"/>
          </a:xfrm>
          <a:prstGeom prst="rect">
            <a:avLst/>
          </a:prstGeom>
          <a:solidFill>
            <a:srgbClr val="0D8A9A">
              <a:alpha val="7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2121408" y="3310128"/>
            <a:ext cx="1719072" cy="36576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19" name="Text 16"/>
          <p:cNvSpPr/>
          <p:nvPr/>
        </p:nvSpPr>
        <p:spPr>
          <a:xfrm>
            <a:off x="2121408" y="3346704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968496" y="3310128"/>
            <a:ext cx="1719072" cy="402336"/>
          </a:xfrm>
          <a:prstGeom prst="rect">
            <a:avLst/>
          </a:prstGeom>
          <a:solidFill>
            <a:srgbClr val="C89B3C">
              <a:alpha val="7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968496" y="3310128"/>
            <a:ext cx="1719072" cy="36576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2" name="Text 19"/>
          <p:cNvSpPr/>
          <p:nvPr/>
        </p:nvSpPr>
        <p:spPr>
          <a:xfrm>
            <a:off x="3968496" y="3346704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ADGM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030508"/>
          </a:solidFill>
          <a:ln/>
        </p:spPr>
      </p:sp>
      <p:sp>
        <p:nvSpPr>
          <p:cNvPr id="24" name="Text 21"/>
          <p:cNvSpPr/>
          <p:nvPr/>
        </p:nvSpPr>
        <p:spPr>
          <a:xfrm>
            <a:off x="274320" y="4636008"/>
            <a:ext cx="685800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jupitercyberdefence.com  ·  info@jupitercyberdefence.com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132320" y="4636008"/>
            <a:ext cx="182880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D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3" name="Shape 1"/>
          <p:cNvSpPr/>
          <p:nvPr/>
        </p:nvSpPr>
        <p:spPr>
          <a:xfrm>
            <a:off x="246888" y="182880"/>
            <a:ext cx="2050999" cy="246888"/>
          </a:xfrm>
          <a:prstGeom prst="rect">
            <a:avLst>
              <a:gd name="adj" fmla="val 11111"/>
            </a:avLst>
          </a:prstGeom>
          <a:solidFill>
            <a:srgbClr val="B82030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182880"/>
            <a:ext cx="20509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REALITY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530352"/>
            <a:ext cx="8650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 data protection law is actively enforced.</a:t>
            </a:r>
            <a:endParaRPr lang="en-US" sz="2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SMEs are unprepared.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46888" y="1481328"/>
            <a:ext cx="2761488" cy="2450592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6888" y="1481328"/>
            <a:ext cx="2761488" cy="54864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" y="1664208"/>
            <a:ext cx="475488" cy="475488"/>
          </a:xfrm>
          <a:prstGeom prst="oval">
            <a:avLst/>
          </a:prstGeom>
          <a:solidFill>
            <a:srgbClr val="B82030">
              <a:alpha val="75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0992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38328" y="2231136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5M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338328" y="2871216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Federal DPL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91256" y="1481328"/>
            <a:ext cx="2761488" cy="2450592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91256" y="1481328"/>
            <a:ext cx="2761488" cy="54864"/>
          </a:xfrm>
          <a:prstGeom prst="rect">
            <a:avLst/>
          </a:prstGeom>
          <a:solidFill>
            <a:srgbClr val="C05810"/>
          </a:solidFill>
          <a:ln/>
        </p:spPr>
      </p:sp>
      <p:sp>
        <p:nvSpPr>
          <p:cNvPr id="14" name="Shape 11"/>
          <p:cNvSpPr/>
          <p:nvPr/>
        </p:nvSpPr>
        <p:spPr>
          <a:xfrm>
            <a:off x="3392424" y="1664208"/>
            <a:ext cx="475488" cy="475488"/>
          </a:xfrm>
          <a:prstGeom prst="oval">
            <a:avLst/>
          </a:prstGeom>
          <a:solidFill>
            <a:srgbClr val="C05810">
              <a:alpha val="75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70992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82696" y="2231136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 Hours</a:t>
            </a:r>
            <a:endParaRPr lang="en-US" sz="3100" dirty="0"/>
          </a:p>
        </p:txBody>
      </p:sp>
      <p:sp>
        <p:nvSpPr>
          <p:cNvPr id="17" name="Text 13"/>
          <p:cNvSpPr/>
          <p:nvPr/>
        </p:nvSpPr>
        <p:spPr>
          <a:xfrm>
            <a:off x="3282696" y="2871216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breach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35624" y="1481328"/>
            <a:ext cx="2761488" cy="2450592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35624" y="1481328"/>
            <a:ext cx="2761488" cy="54864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20" name="Shape 16"/>
          <p:cNvSpPr/>
          <p:nvPr/>
        </p:nvSpPr>
        <p:spPr>
          <a:xfrm>
            <a:off x="6336792" y="1664208"/>
            <a:ext cx="475488" cy="475488"/>
          </a:xfrm>
          <a:prstGeom prst="oval">
            <a:avLst/>
          </a:prstGeom>
          <a:solidFill>
            <a:srgbClr val="0D8A9A">
              <a:alpha val="75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70992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27064" y="2231136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Regimes</a:t>
            </a:r>
            <a:endParaRPr lang="en-US" sz="3100" dirty="0"/>
          </a:p>
        </p:txBody>
      </p:sp>
      <p:sp>
        <p:nvSpPr>
          <p:cNvPr id="23" name="Text 18"/>
          <p:cNvSpPr/>
          <p:nvPr/>
        </p:nvSpPr>
        <p:spPr>
          <a:xfrm>
            <a:off x="6227064" y="2871216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· DIFC · ADGM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different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46888" y="4114800"/>
            <a:ext cx="8650224" cy="530352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25" name="Shape 20"/>
          <p:cNvSpPr/>
          <p:nvPr/>
        </p:nvSpPr>
        <p:spPr>
          <a:xfrm>
            <a:off x="246888" y="4114800"/>
            <a:ext cx="45720" cy="530352"/>
          </a:xfrm>
          <a:prstGeom prst="rect">
            <a:avLst/>
          </a:prstGeom>
          <a:solidFill>
            <a:srgbClr val="C0581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215384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8096" y="4114800"/>
            <a:ext cx="80284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authorities have commenced active enforcement. SMEs that cannot demonstrate compliance face fines, operational disruption, and permanent loss of customer trust.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609"/>
          </a:solidFill>
          <a:ln/>
        </p:spPr>
      </p:sp>
      <p:sp>
        <p:nvSpPr>
          <p:cNvPr id="29" name="Text 23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UAE Data Protection Compliance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D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64592"/>
            <a:ext cx="2317090" cy="246888"/>
          </a:xfrm>
          <a:prstGeom prst="rect">
            <a:avLst>
              <a:gd name="adj" fmla="val 11111"/>
            </a:avLst>
          </a:prstGeom>
          <a:solidFill>
            <a:srgbClr val="080C18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" y="164592"/>
            <a:ext cx="23170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D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FRAMEWORK SELECTOR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9456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separate regimes. Choosing the wrong one has consequences.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97280"/>
            <a:ext cx="2834640" cy="475488"/>
          </a:xfrm>
          <a:prstGeom prst="rect">
            <a:avLst/>
          </a:prstGeom>
          <a:solidFill>
            <a:srgbClr val="1A6ED8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10972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FEDERAL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2651760" cy="621792"/>
          </a:xfrm>
          <a:prstGeom prst="rect">
            <a:avLst/>
          </a:prstGeom>
          <a:solidFill>
            <a:srgbClr val="D8E8F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700784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6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" y="188366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Decree-Law No. 45/2021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59152"/>
            <a:ext cx="2651760" cy="621792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395728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6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7472" y="2578608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Mainland UAE (DED-licensed)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54096"/>
            <a:ext cx="2651760" cy="621792"/>
          </a:xfrm>
          <a:prstGeom prst="rect">
            <a:avLst/>
          </a:prstGeom>
          <a:solidFill>
            <a:srgbClr val="D8E8FB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090672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6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7472" y="327355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Cabinet / TRA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2651760" cy="621792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3785616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6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Fine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7472" y="3968496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5,000,000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109728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1097280"/>
            <a:ext cx="2834640" cy="475488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24" name="Text 22"/>
          <p:cNvSpPr/>
          <p:nvPr/>
        </p:nvSpPr>
        <p:spPr>
          <a:xfrm>
            <a:off x="3172968" y="10972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64408" y="1664208"/>
            <a:ext cx="2651760" cy="621792"/>
          </a:xfrm>
          <a:prstGeom prst="rect">
            <a:avLst/>
          </a:prstGeom>
          <a:solidFill>
            <a:srgbClr val="CCE8EC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1700784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37560" y="188366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 Law No. 5/2020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(GDPR-equivalent)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64408" y="2359152"/>
            <a:ext cx="2651760" cy="621792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2395728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37560" y="2578608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 free zone entities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64408" y="3054096"/>
            <a:ext cx="2651760" cy="621792"/>
          </a:xfrm>
          <a:prstGeom prst="rect">
            <a:avLst/>
          </a:prstGeom>
          <a:solidFill>
            <a:srgbClr val="CCE8EC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3090672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37560" y="327355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 Commissioner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Protection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64408" y="3749040"/>
            <a:ext cx="2651760" cy="621792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3337560" y="3785616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Fine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37560" y="3968496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100,000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63056" y="109728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1097280"/>
            <a:ext cx="2834640" cy="47548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9" name="Text 37"/>
          <p:cNvSpPr/>
          <p:nvPr/>
        </p:nvSpPr>
        <p:spPr>
          <a:xfrm>
            <a:off x="6163056" y="10972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54496" y="1664208"/>
            <a:ext cx="2651760" cy="621792"/>
          </a:xfrm>
          <a:prstGeom prst="rect">
            <a:avLst/>
          </a:prstGeom>
          <a:solidFill>
            <a:srgbClr val="F2E8D4"/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1700784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327648" y="188366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ADGM DPR 2021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54496" y="2359152"/>
            <a:ext cx="2651760" cy="621792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44" name="Text 42"/>
          <p:cNvSpPr/>
          <p:nvPr/>
        </p:nvSpPr>
        <p:spPr>
          <a:xfrm>
            <a:off x="6327648" y="2395728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327648" y="2578608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ADGM free zone entities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54496" y="3054096"/>
            <a:ext cx="2651760" cy="621792"/>
          </a:xfrm>
          <a:prstGeom prst="rect">
            <a:avLst/>
          </a:prstGeom>
          <a:solidFill>
            <a:srgbClr val="F2E8D4"/>
          </a:solidFill>
          <a:ln/>
        </p:spPr>
      </p:sp>
      <p:sp>
        <p:nvSpPr>
          <p:cNvPr id="47" name="Text 45"/>
          <p:cNvSpPr/>
          <p:nvPr/>
        </p:nvSpPr>
        <p:spPr>
          <a:xfrm>
            <a:off x="6327648" y="3090672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327648" y="327355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ADGM Registration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54496" y="3749040"/>
            <a:ext cx="2651760" cy="621792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0" name="Text 48"/>
          <p:cNvSpPr/>
          <p:nvPr/>
        </p:nvSpPr>
        <p:spPr>
          <a:xfrm>
            <a:off x="6327648" y="3785616"/>
            <a:ext cx="2487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Fine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327648" y="3968496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28,000,000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82880" y="4700016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5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Operating across multiple UAE jurisdictions? All applicable frameworks must be addressed simultaneously.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C1530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UAE Data Protection Compliance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D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3" name="Shape 1"/>
          <p:cNvSpPr/>
          <p:nvPr/>
        </p:nvSpPr>
        <p:spPr>
          <a:xfrm>
            <a:off x="246888" y="182880"/>
            <a:ext cx="2317090" cy="246888"/>
          </a:xfrm>
          <a:prstGeom prst="rect">
            <a:avLst>
              <a:gd name="adj" fmla="val 11111"/>
            </a:avLst>
          </a:prstGeom>
          <a:solidFill>
            <a:srgbClr val="0D8A9A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182880"/>
            <a:ext cx="23170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UAE AUDITS REVEAL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548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common data protection gaps across UAE SMEs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01168" y="1207008"/>
            <a:ext cx="2816352" cy="15727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207008"/>
            <a:ext cx="2816352" cy="45720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" y="1280160"/>
            <a:ext cx="1353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377440" y="1335024"/>
            <a:ext cx="457200" cy="457200"/>
          </a:xfrm>
          <a:prstGeom prst="oval">
            <a:avLst/>
          </a:prstGeom>
          <a:solidFill>
            <a:srgbClr val="B82030">
              <a:alpha val="75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0592" y="1380744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896" y="19019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UAE SMEs audited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10896" y="2157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Privacy Policy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24505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or missing entirely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91256" y="1207008"/>
            <a:ext cx="2816352" cy="15727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91256" y="1207008"/>
            <a:ext cx="2816352" cy="45720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16" name="Text 13"/>
          <p:cNvSpPr/>
          <p:nvPr/>
        </p:nvSpPr>
        <p:spPr>
          <a:xfrm>
            <a:off x="3300984" y="1280160"/>
            <a:ext cx="1353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79%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5367528" y="1335024"/>
            <a:ext cx="457200" cy="457200"/>
          </a:xfrm>
          <a:prstGeom prst="oval">
            <a:avLst/>
          </a:prstGeom>
          <a:solidFill>
            <a:srgbClr val="B82030">
              <a:alpha val="75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380744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00984" y="19019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UAE SMEs audited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300984" y="2157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 Mechanism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300984" y="24505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Website/app lacks valid consent flow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181344" y="1207008"/>
            <a:ext cx="2816352" cy="15727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81344" y="1207008"/>
            <a:ext cx="2816352" cy="45720"/>
          </a:xfrm>
          <a:prstGeom prst="rect">
            <a:avLst/>
          </a:prstGeom>
          <a:solidFill>
            <a:srgbClr val="C05810"/>
          </a:solidFill>
          <a:ln/>
        </p:spPr>
      </p:sp>
      <p:sp>
        <p:nvSpPr>
          <p:cNvPr id="24" name="Text 20"/>
          <p:cNvSpPr/>
          <p:nvPr/>
        </p:nvSpPr>
        <p:spPr>
          <a:xfrm>
            <a:off x="6291072" y="1280160"/>
            <a:ext cx="1353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5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000" dirty="0"/>
          </a:p>
        </p:txBody>
      </p:sp>
      <p:sp>
        <p:nvSpPr>
          <p:cNvPr id="25" name="Shape 21"/>
          <p:cNvSpPr/>
          <p:nvPr/>
        </p:nvSpPr>
        <p:spPr>
          <a:xfrm>
            <a:off x="8357616" y="1335024"/>
            <a:ext cx="457200" cy="457200"/>
          </a:xfrm>
          <a:prstGeom prst="oval">
            <a:avLst/>
          </a:prstGeom>
          <a:solidFill>
            <a:srgbClr val="C05810">
              <a:alpha val="75000"/>
            </a:srgbClr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380744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91072" y="19019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UAE SMEs audited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291072" y="2157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DPO Appointed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291072" y="24505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officer registered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201168" y="2962656"/>
            <a:ext cx="2816352" cy="15727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201168" y="2962656"/>
            <a:ext cx="2816352" cy="45720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32" name="Text 27"/>
          <p:cNvSpPr/>
          <p:nvPr/>
        </p:nvSpPr>
        <p:spPr>
          <a:xfrm>
            <a:off x="310896" y="3035808"/>
            <a:ext cx="1353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81%</a:t>
            </a:r>
            <a:endParaRPr lang="en-US" sz="3000" dirty="0"/>
          </a:p>
        </p:txBody>
      </p:sp>
      <p:sp>
        <p:nvSpPr>
          <p:cNvPr id="33" name="Shape 28"/>
          <p:cNvSpPr/>
          <p:nvPr/>
        </p:nvSpPr>
        <p:spPr>
          <a:xfrm>
            <a:off x="2377440" y="3090672"/>
            <a:ext cx="457200" cy="457200"/>
          </a:xfrm>
          <a:prstGeom prst="oval">
            <a:avLst/>
          </a:prstGeom>
          <a:solidFill>
            <a:srgbClr val="B82030">
              <a:alpha val="75000"/>
            </a:srgbClr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592" y="3136392"/>
            <a:ext cx="310896" cy="31089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310896" y="3657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UAE SMEs audited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310896" y="3913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DPAs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310896" y="42062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processors uncontracted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3191256" y="2962656"/>
            <a:ext cx="2816352" cy="15727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191256" y="2962656"/>
            <a:ext cx="2816352" cy="45720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40" name="Text 34"/>
          <p:cNvSpPr/>
          <p:nvPr/>
        </p:nvSpPr>
        <p:spPr>
          <a:xfrm>
            <a:off x="3300984" y="3035808"/>
            <a:ext cx="1353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3000" dirty="0"/>
          </a:p>
        </p:txBody>
      </p:sp>
      <p:sp>
        <p:nvSpPr>
          <p:cNvPr id="41" name="Shape 35"/>
          <p:cNvSpPr/>
          <p:nvPr/>
        </p:nvSpPr>
        <p:spPr>
          <a:xfrm>
            <a:off x="5367528" y="3090672"/>
            <a:ext cx="457200" cy="457200"/>
          </a:xfrm>
          <a:prstGeom prst="oval">
            <a:avLst/>
          </a:prstGeom>
          <a:solidFill>
            <a:srgbClr val="B82030">
              <a:alpha val="75000"/>
            </a:srgbClr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136392"/>
            <a:ext cx="310896" cy="31089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300984" y="3657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UAE SMEs audited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3300984" y="3913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Breach Procedure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3300984" y="42062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72-hour notification workflow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181344" y="2962656"/>
            <a:ext cx="2816352" cy="15727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6181344" y="2962656"/>
            <a:ext cx="2816352" cy="45720"/>
          </a:xfrm>
          <a:prstGeom prst="rect">
            <a:avLst/>
          </a:prstGeom>
          <a:solidFill>
            <a:srgbClr val="C05810"/>
          </a:solidFill>
          <a:ln/>
        </p:spPr>
      </p:sp>
      <p:sp>
        <p:nvSpPr>
          <p:cNvPr id="48" name="Text 41"/>
          <p:cNvSpPr/>
          <p:nvPr/>
        </p:nvSpPr>
        <p:spPr>
          <a:xfrm>
            <a:off x="6291072" y="3035808"/>
            <a:ext cx="1353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5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3000" dirty="0"/>
          </a:p>
        </p:txBody>
      </p:sp>
      <p:sp>
        <p:nvSpPr>
          <p:cNvPr id="49" name="Shape 42"/>
          <p:cNvSpPr/>
          <p:nvPr/>
        </p:nvSpPr>
        <p:spPr>
          <a:xfrm>
            <a:off x="8357616" y="3090672"/>
            <a:ext cx="457200" cy="457200"/>
          </a:xfrm>
          <a:prstGeom prst="oval">
            <a:avLst/>
          </a:prstGeom>
          <a:solidFill>
            <a:srgbClr val="C05810">
              <a:alpha val="75000"/>
            </a:srgbClr>
          </a:solidFill>
          <a:ln/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3136392"/>
            <a:ext cx="310896" cy="310896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291072" y="3657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UAE SMEs audited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6291072" y="3913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RoPA Maintained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6291072" y="42062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records don't exist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609"/>
          </a:solidFill>
          <a:ln/>
        </p:spPr>
      </p:sp>
      <p:sp>
        <p:nvSpPr>
          <p:cNvPr id="55" name="Text 47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UAE Data Protection Compliance</a:t>
            </a:r>
            <a:endParaRPr lang="en-US" sz="850" dirty="0"/>
          </a:p>
        </p:txBody>
      </p:sp>
      <p:sp>
        <p:nvSpPr>
          <p:cNvPr id="56" name="Text 48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D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6ED8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64592"/>
            <a:ext cx="1430122" cy="246888"/>
          </a:xfrm>
          <a:prstGeom prst="rect">
            <a:avLst>
              <a:gd name="adj" fmla="val 11111"/>
            </a:avLst>
          </a:prstGeom>
          <a:solidFill>
            <a:srgbClr val="080C18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" y="164592"/>
            <a:ext cx="143012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4A9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PACKAGES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9456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fixed-price packages for UAE businesses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97280"/>
            <a:ext cx="2834640" cy="877824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115568"/>
            <a:ext cx="6583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C5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32688" y="1152144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Readiness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2651760" cy="475488"/>
          </a:xfrm>
          <a:prstGeom prst="rect">
            <a:avLst/>
          </a:prstGeom>
          <a:solidFill>
            <a:srgbClr val="D8E8FB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" y="20665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11,000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11680" y="206654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2761488"/>
            <a:ext cx="137160" cy="1371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12064" y="26700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vs applicable law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3163824"/>
            <a:ext cx="137160" cy="1371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2064" y="30723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mapping interview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3566160"/>
            <a:ext cx="137160" cy="1371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" y="3474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 in English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3968496"/>
            <a:ext cx="137160" cy="1371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2064" y="38770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 list</a:t>
            </a:r>
            <a:endParaRPr lang="en-US" sz="9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4370832"/>
            <a:ext cx="137160" cy="1371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2064" y="4279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first assessment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172968" y="109728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172968" y="1097280"/>
            <a:ext cx="2834640" cy="877824"/>
          </a:xfrm>
          <a:prstGeom prst="rect">
            <a:avLst/>
          </a:prstGeom>
          <a:solidFill>
            <a:srgbClr val="1050A8"/>
          </a:solidFill>
          <a:ln/>
        </p:spPr>
      </p:sp>
      <p:sp>
        <p:nvSpPr>
          <p:cNvPr id="26" name="Text 19"/>
          <p:cNvSpPr/>
          <p:nvPr/>
        </p:nvSpPr>
        <p:spPr>
          <a:xfrm>
            <a:off x="3282696" y="1115568"/>
            <a:ext cx="6583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C5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27" name="Text 20"/>
          <p:cNvSpPr/>
          <p:nvPr/>
        </p:nvSpPr>
        <p:spPr>
          <a:xfrm>
            <a:off x="3922776" y="1152144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Compliance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3264408" y="2066544"/>
            <a:ext cx="2651760" cy="475488"/>
          </a:xfrm>
          <a:prstGeom prst="rect">
            <a:avLst/>
          </a:prstGeom>
          <a:solidFill>
            <a:srgbClr val="CCE0F8"/>
          </a:solidFill>
          <a:ln/>
        </p:spPr>
      </p:sp>
      <p:sp>
        <p:nvSpPr>
          <p:cNvPr id="29" name="Text 22"/>
          <p:cNvSpPr/>
          <p:nvPr/>
        </p:nvSpPr>
        <p:spPr>
          <a:xfrm>
            <a:off x="3300984" y="20665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5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28,000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5001768" y="206654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9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0984" y="2761488"/>
            <a:ext cx="137160" cy="1371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02152" y="26700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Package 1</a:t>
            </a:r>
            <a:endParaRPr lang="en-US" sz="9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0984" y="3163824"/>
            <a:ext cx="137160" cy="1371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502152" y="30723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vulnerability scan</a:t>
            </a:r>
            <a:endParaRPr lang="en-US" sz="9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0984" y="3566160"/>
            <a:ext cx="137160" cy="13716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502152" y="3474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procedure review</a:t>
            </a:r>
            <a:endParaRPr lang="en-US" sz="95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0984" y="3968496"/>
            <a:ext cx="137160" cy="13716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3502152" y="38770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cookie compliance</a:t>
            </a:r>
            <a:endParaRPr lang="en-US" sz="95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0984" y="4370832"/>
            <a:ext cx="137160" cy="13716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3502152" y="4279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report + roadmap</a:t>
            </a:r>
            <a:endParaRPr lang="en-US" sz="950" dirty="0"/>
          </a:p>
        </p:txBody>
      </p:sp>
      <p:sp>
        <p:nvSpPr>
          <p:cNvPr id="41" name="Shape 29"/>
          <p:cNvSpPr/>
          <p:nvPr/>
        </p:nvSpPr>
        <p:spPr>
          <a:xfrm>
            <a:off x="6163056" y="109728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6163056" y="1097280"/>
            <a:ext cx="2834640" cy="877824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43" name="Text 31"/>
          <p:cNvSpPr/>
          <p:nvPr/>
        </p:nvSpPr>
        <p:spPr>
          <a:xfrm>
            <a:off x="6272784" y="1115568"/>
            <a:ext cx="6583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44" name="Text 32"/>
          <p:cNvSpPr/>
          <p:nvPr/>
        </p:nvSpPr>
        <p:spPr>
          <a:xfrm>
            <a:off x="6912864" y="1152144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+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Remediation</a:t>
            </a:r>
            <a:endParaRPr lang="en-US" sz="1500" dirty="0"/>
          </a:p>
        </p:txBody>
      </p:sp>
      <p:sp>
        <p:nvSpPr>
          <p:cNvPr id="45" name="Shape 33"/>
          <p:cNvSpPr/>
          <p:nvPr/>
        </p:nvSpPr>
        <p:spPr>
          <a:xfrm>
            <a:off x="6254496" y="2066544"/>
            <a:ext cx="2651760" cy="475488"/>
          </a:xfrm>
          <a:prstGeom prst="rect">
            <a:avLst/>
          </a:prstGeom>
          <a:solidFill>
            <a:srgbClr val="CCE8EC"/>
          </a:solidFill>
          <a:ln/>
        </p:spPr>
      </p:sp>
      <p:sp>
        <p:nvSpPr>
          <p:cNvPr id="46" name="Text 34"/>
          <p:cNvSpPr/>
          <p:nvPr/>
        </p:nvSpPr>
        <p:spPr>
          <a:xfrm>
            <a:off x="6291072" y="20665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8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58,000</a:t>
            </a:r>
            <a:endParaRPr lang="en-US" sz="1700" dirty="0"/>
          </a:p>
        </p:txBody>
      </p:sp>
      <p:sp>
        <p:nvSpPr>
          <p:cNvPr id="47" name="Text 35"/>
          <p:cNvSpPr/>
          <p:nvPr/>
        </p:nvSpPr>
        <p:spPr>
          <a:xfrm>
            <a:off x="7991856" y="206654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weeks</a:t>
            </a:r>
            <a:endParaRPr lang="en-US" sz="90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1072" y="2761488"/>
            <a:ext cx="137160" cy="13716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492240" y="26700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Package 2</a:t>
            </a:r>
            <a:endParaRPr lang="en-US" sz="95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1072" y="3163824"/>
            <a:ext cx="137160" cy="13716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6492240" y="30723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remediation support</a:t>
            </a:r>
            <a:endParaRPr lang="en-US" sz="950" dirty="0"/>
          </a:p>
        </p:txBody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1072" y="3566160"/>
            <a:ext cx="137160" cy="137160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6492240" y="3474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templates &amp; DPA drafts</a:t>
            </a:r>
            <a:endParaRPr lang="en-US" sz="950" dirty="0"/>
          </a:p>
        </p:txBody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91072" y="3968496"/>
            <a:ext cx="137160" cy="137160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6492240" y="38770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awareness training</a:t>
            </a:r>
            <a:endParaRPr lang="en-US" sz="950" dirty="0"/>
          </a:p>
        </p:txBody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1072" y="4370832"/>
            <a:ext cx="137160" cy="137160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6492240" y="4279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retainer option</a:t>
            </a:r>
            <a:endParaRPr lang="en-US" sz="950" dirty="0"/>
          </a:p>
        </p:txBody>
      </p:sp>
      <p:sp>
        <p:nvSpPr>
          <p:cNvPr id="58" name="Text 41"/>
          <p:cNvSpPr/>
          <p:nvPr/>
        </p:nvSpPr>
        <p:spPr>
          <a:xfrm>
            <a:off x="182880" y="487375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retainer from AED 14,000/yr — quarterly reviews, unlimited advisory &amp; incident support  ·  jupitercyberdefence.com</a:t>
            </a:r>
            <a:endParaRPr lang="en-US" sz="850" dirty="0"/>
          </a:p>
        </p:txBody>
      </p:sp>
      <p:sp>
        <p:nvSpPr>
          <p:cNvPr id="59" name="Shape 42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C1530"/>
          </a:solidFill>
          <a:ln/>
        </p:spPr>
      </p:sp>
      <p:sp>
        <p:nvSpPr>
          <p:cNvPr id="60" name="Text 43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UAE Data Protection Compliance</a:t>
            </a:r>
            <a:endParaRPr lang="en-US" sz="850" dirty="0"/>
          </a:p>
        </p:txBody>
      </p:sp>
      <p:sp>
        <p:nvSpPr>
          <p:cNvPr id="61" name="Text 44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D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CC"/>
          </a:solidFill>
          <a:ln/>
        </p:spPr>
      </p:sp>
      <p:sp>
        <p:nvSpPr>
          <p:cNvPr id="3" name="Shape 1"/>
          <p:cNvSpPr/>
          <p:nvPr/>
        </p:nvSpPr>
        <p:spPr>
          <a:xfrm>
            <a:off x="246888" y="182880"/>
            <a:ext cx="2228393" cy="246888"/>
          </a:xfrm>
          <a:prstGeom prst="rect">
            <a:avLst>
              <a:gd name="adj" fmla="val 11111"/>
            </a:avLst>
          </a:prstGeom>
          <a:solidFill>
            <a:srgbClr val="00C2CC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182880"/>
            <a:ext cx="222839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JUPITER ADVANTAGE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548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audit — continuous compliance confidence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01168" y="1170432"/>
            <a:ext cx="45720" cy="731520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" y="1298448"/>
            <a:ext cx="438912" cy="438912"/>
          </a:xfrm>
          <a:prstGeom prst="oval">
            <a:avLst/>
          </a:prstGeom>
          <a:solidFill>
            <a:srgbClr val="0D8A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34416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12161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Risk Monitoring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77824" y="148132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of external exposure, cloud posture, and identity hygiene — not a point-in-time snapshot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1168" y="2066544"/>
            <a:ext cx="45720" cy="731520"/>
          </a:xfrm>
          <a:prstGeom prst="rect">
            <a:avLst/>
          </a:prstGeom>
          <a:solidFill>
            <a:srgbClr val="1A6ED8"/>
          </a:solidFill>
          <a:ln/>
        </p:spPr>
      </p:sp>
      <p:sp>
        <p:nvSpPr>
          <p:cNvPr id="12" name="Shape 9"/>
          <p:cNvSpPr/>
          <p:nvPr/>
        </p:nvSpPr>
        <p:spPr>
          <a:xfrm>
            <a:off x="310896" y="2194560"/>
            <a:ext cx="438912" cy="438912"/>
          </a:xfrm>
          <a:prstGeom prst="oval">
            <a:avLst/>
          </a:prstGeom>
          <a:solidFill>
            <a:srgbClr val="1A6ED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2240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7824" y="211226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Mapping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77824" y="237744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mapped against UAE DPL, DIFC, and ADGM requirements with clear gap status and audit-ready evidence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01168" y="2962656"/>
            <a:ext cx="45720" cy="731520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17" name="Shape 13"/>
          <p:cNvSpPr/>
          <p:nvPr/>
        </p:nvSpPr>
        <p:spPr>
          <a:xfrm>
            <a:off x="310896" y="3090672"/>
            <a:ext cx="438912" cy="438912"/>
          </a:xfrm>
          <a:prstGeom prst="oval">
            <a:avLst/>
          </a:prstGeom>
          <a:solidFill>
            <a:srgbClr val="0D8A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13639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7824" y="300837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Reports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77824" y="327355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reports that explain progress, gaps, and ownership — ready for regulators on demand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01168" y="3858768"/>
            <a:ext cx="45720" cy="731520"/>
          </a:xfrm>
          <a:prstGeom prst="rect">
            <a:avLst/>
          </a:prstGeom>
          <a:solidFill>
            <a:srgbClr val="1A6ED8"/>
          </a:solidFill>
          <a:ln/>
        </p:spPr>
      </p:sp>
      <p:sp>
        <p:nvSpPr>
          <p:cNvPr id="22" name="Shape 17"/>
          <p:cNvSpPr/>
          <p:nvPr/>
        </p:nvSpPr>
        <p:spPr>
          <a:xfrm>
            <a:off x="310896" y="3986784"/>
            <a:ext cx="438912" cy="438912"/>
          </a:xfrm>
          <a:prstGeom prst="oval">
            <a:avLst/>
          </a:prstGeom>
          <a:solidFill>
            <a:srgbClr val="1A6ED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403250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77824" y="39044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 Action Plans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77824" y="416966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remediation roadmap prioritised by business impact — your team knows exactly what to fix first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577840" y="1115568"/>
            <a:ext cx="3364992" cy="3657600"/>
          </a:xfrm>
          <a:prstGeom prst="rect">
            <a:avLst/>
          </a:prstGeom>
          <a:solidFill>
            <a:srgbClr val="141E3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577840" y="1115568"/>
            <a:ext cx="3364992" cy="54864"/>
          </a:xfrm>
          <a:prstGeom prst="rect">
            <a:avLst/>
          </a:prstGeom>
          <a:solidFill>
            <a:srgbClr val="00C2CC"/>
          </a:solidFill>
          <a:ln/>
        </p:spPr>
      </p:sp>
      <p:sp>
        <p:nvSpPr>
          <p:cNvPr id="28" name="Text 22"/>
          <p:cNvSpPr/>
          <p:nvPr/>
        </p:nvSpPr>
        <p:spPr>
          <a:xfrm>
            <a:off x="5669280" y="1207008"/>
            <a:ext cx="3182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650992" y="1645920"/>
            <a:ext cx="1536192" cy="1389888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30" name="Text 24"/>
          <p:cNvSpPr/>
          <p:nvPr/>
        </p:nvSpPr>
        <p:spPr>
          <a:xfrm>
            <a:off x="5650992" y="1737360"/>
            <a:ext cx="15361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C5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120+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5650992" y="2395728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&amp; GCC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served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315200" y="1645920"/>
            <a:ext cx="1536192" cy="1389888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33" name="Text 27"/>
          <p:cNvSpPr/>
          <p:nvPr/>
        </p:nvSpPr>
        <p:spPr>
          <a:xfrm>
            <a:off x="7315200" y="1737360"/>
            <a:ext cx="15361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C5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2800" dirty="0"/>
          </a:p>
        </p:txBody>
      </p:sp>
      <p:sp>
        <p:nvSpPr>
          <p:cNvPr id="34" name="Text 28"/>
          <p:cNvSpPr/>
          <p:nvPr/>
        </p:nvSpPr>
        <p:spPr>
          <a:xfrm>
            <a:off x="7315200" y="2395728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5650992" y="3218688"/>
            <a:ext cx="1536192" cy="1389888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36" name="Text 30"/>
          <p:cNvSpPr/>
          <p:nvPr/>
        </p:nvSpPr>
        <p:spPr>
          <a:xfrm>
            <a:off x="5650992" y="3310128"/>
            <a:ext cx="15361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C5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days</a:t>
            </a:r>
            <a:endParaRPr lang="en-US" sz="2800" dirty="0"/>
          </a:p>
        </p:txBody>
      </p:sp>
      <p:sp>
        <p:nvSpPr>
          <p:cNvPr id="37" name="Text 31"/>
          <p:cNvSpPr/>
          <p:nvPr/>
        </p:nvSpPr>
        <p:spPr>
          <a:xfrm>
            <a:off x="5650992" y="3968496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315200" y="3218688"/>
            <a:ext cx="1536192" cy="1389888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39" name="Text 33"/>
          <p:cNvSpPr/>
          <p:nvPr/>
        </p:nvSpPr>
        <p:spPr>
          <a:xfrm>
            <a:off x="7315200" y="3310128"/>
            <a:ext cx="153619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C5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40" name="Text 34"/>
          <p:cNvSpPr/>
          <p:nvPr/>
        </p:nvSpPr>
        <p:spPr>
          <a:xfrm>
            <a:off x="7315200" y="3968496"/>
            <a:ext cx="15361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· UAE · Oman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609"/>
          </a:solidFill>
          <a:ln/>
        </p:spPr>
      </p:sp>
      <p:sp>
        <p:nvSpPr>
          <p:cNvPr id="42" name="Text 36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UAE Data Protection Compliance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D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" y="164592"/>
            <a:ext cx="1873606" cy="246888"/>
          </a:xfrm>
          <a:prstGeom prst="rect">
            <a:avLst>
              <a:gd name="adj" fmla="val 11111"/>
            </a:avLst>
          </a:prstGeom>
          <a:solidFill>
            <a:srgbClr val="080C18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" y="164592"/>
            <a:ext cx="187360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D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AUDIT PROCESS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9456" y="502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phases — from scoping to your compliance roadmap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633472"/>
            <a:ext cx="7498080" cy="36576"/>
          </a:xfrm>
          <a:prstGeom prst="rect">
            <a:avLst/>
          </a:prstGeom>
          <a:solidFill>
            <a:srgbClr val="C8D0E0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261872"/>
            <a:ext cx="694944" cy="694944"/>
          </a:xfrm>
          <a:prstGeom prst="oval">
            <a:avLst/>
          </a:prstGeom>
          <a:solidFill>
            <a:srgbClr val="0D8A9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" y="2066544"/>
            <a:ext cx="1207008" cy="603504"/>
          </a:xfrm>
          <a:prstGeom prst="rect">
            <a:avLst/>
          </a:prstGeom>
          <a:solidFill>
            <a:srgbClr val="0D8A9A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12264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3776" y="277977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3776" y="3236976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mapping,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inventory,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96896" y="1261872"/>
            <a:ext cx="694944" cy="694944"/>
          </a:xfrm>
          <a:prstGeom prst="oval">
            <a:avLst/>
          </a:prstGeom>
          <a:solidFill>
            <a:srgbClr val="1050A8"/>
          </a:solidFill>
          <a:ln/>
        </p:spPr>
      </p:sp>
      <p:sp>
        <p:nvSpPr>
          <p:cNvPr id="15" name="Text 12"/>
          <p:cNvSpPr/>
          <p:nvPr/>
        </p:nvSpPr>
        <p:spPr>
          <a:xfrm>
            <a:off x="259689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340864" y="2066544"/>
            <a:ext cx="1207008" cy="603504"/>
          </a:xfrm>
          <a:prstGeom prst="rect">
            <a:avLst/>
          </a:prstGeom>
          <a:solidFill>
            <a:srgbClr val="1050A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2112264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31136" y="277977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2231136" y="3236976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review vs UAE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 / DIFC / ADGM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334256" y="1261872"/>
            <a:ext cx="694944" cy="694944"/>
          </a:xfrm>
          <a:prstGeom prst="oval">
            <a:avLst/>
          </a:prstGeom>
          <a:solidFill>
            <a:srgbClr val="0D8A9A"/>
          </a:solidFill>
          <a:ln/>
        </p:spPr>
      </p:sp>
      <p:sp>
        <p:nvSpPr>
          <p:cNvPr id="21" name="Text 17"/>
          <p:cNvSpPr/>
          <p:nvPr/>
        </p:nvSpPr>
        <p:spPr>
          <a:xfrm>
            <a:off x="433425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078224" y="2066544"/>
            <a:ext cx="1207008" cy="603504"/>
          </a:xfrm>
          <a:prstGeom prst="rect">
            <a:avLst/>
          </a:prstGeom>
          <a:solidFill>
            <a:srgbClr val="0D8A9A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112264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968496" y="277977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968496" y="3236976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scan, website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check, access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audit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6071616" y="1261872"/>
            <a:ext cx="694944" cy="694944"/>
          </a:xfrm>
          <a:prstGeom prst="oval">
            <a:avLst/>
          </a:prstGeom>
          <a:solidFill>
            <a:srgbClr val="1050A8"/>
          </a:solidFill>
          <a:ln/>
        </p:spPr>
      </p:sp>
      <p:sp>
        <p:nvSpPr>
          <p:cNvPr id="27" name="Text 22"/>
          <p:cNvSpPr/>
          <p:nvPr/>
        </p:nvSpPr>
        <p:spPr>
          <a:xfrm>
            <a:off x="607161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815584" y="2066544"/>
            <a:ext cx="1207008" cy="603504"/>
          </a:xfrm>
          <a:prstGeom prst="rect">
            <a:avLst/>
          </a:prstGeom>
          <a:solidFill>
            <a:srgbClr val="1050A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112264"/>
            <a:ext cx="402336" cy="40233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705856" y="277977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705856" y="3236976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report,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ratings, evidence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7808976" y="1261872"/>
            <a:ext cx="694944" cy="694944"/>
          </a:xfrm>
          <a:prstGeom prst="oval">
            <a:avLst/>
          </a:prstGeom>
          <a:solidFill>
            <a:srgbClr val="0D8A9A"/>
          </a:solidFill>
          <a:ln/>
        </p:spPr>
      </p:sp>
      <p:sp>
        <p:nvSpPr>
          <p:cNvPr id="33" name="Text 27"/>
          <p:cNvSpPr/>
          <p:nvPr/>
        </p:nvSpPr>
        <p:spPr>
          <a:xfrm>
            <a:off x="7808976" y="126187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7552944" y="2066544"/>
            <a:ext cx="1207008" cy="603504"/>
          </a:xfrm>
          <a:prstGeom prst="rect">
            <a:avLst/>
          </a:prstGeom>
          <a:solidFill>
            <a:srgbClr val="0D8A9A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2112264"/>
            <a:ext cx="402336" cy="40233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443216" y="2779776"/>
            <a:ext cx="1426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7443216" y="3236976"/>
            <a:ext cx="1426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plan,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priorities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deadlines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219456" y="4224528"/>
            <a:ext cx="8705088" cy="402336"/>
          </a:xfrm>
          <a:prstGeom prst="rect">
            <a:avLst/>
          </a:prstGeom>
          <a:solidFill>
            <a:srgbClr val="080C18"/>
          </a:solidFill>
          <a:ln/>
        </p:spPr>
      </p:sp>
      <p:sp>
        <p:nvSpPr>
          <p:cNvPr id="39" name="Text 32"/>
          <p:cNvSpPr/>
          <p:nvPr/>
        </p:nvSpPr>
        <p:spPr>
          <a:xfrm>
            <a:off x="274320" y="4224528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1: 5 days  ·  Package 2: 2–3 weeks  ·  Package 3: 6–8 weeks  ·  All reports delivered in English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C1530"/>
          </a:solidFill>
          <a:ln/>
        </p:spPr>
      </p:sp>
      <p:sp>
        <p:nvSpPr>
          <p:cNvPr id="41" name="Text 34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UAE Data Protection Compliance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D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3" name="Shape 1"/>
          <p:cNvSpPr/>
          <p:nvPr/>
        </p:nvSpPr>
        <p:spPr>
          <a:xfrm>
            <a:off x="246888" y="182880"/>
            <a:ext cx="1873606" cy="246888"/>
          </a:xfrm>
          <a:prstGeom prst="rect">
            <a:avLst>
              <a:gd name="adj" fmla="val 11111"/>
            </a:avLst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182880"/>
            <a:ext cx="187360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80C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5486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cost vs. the cost of non-compliance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46888" y="1152144"/>
            <a:ext cx="4023360" cy="34015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6888" y="1152144"/>
            <a:ext cx="4023360" cy="438912"/>
          </a:xfrm>
          <a:prstGeom prst="rect">
            <a:avLst/>
          </a:prstGeom>
          <a:solidFill>
            <a:srgbClr val="1050A8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" y="115214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COMPLIANCE AUDIT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" y="1719072"/>
            <a:ext cx="3840480" cy="566928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1907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1 — Readiness Scan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98064" y="171907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C5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11,000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" y="2377440"/>
            <a:ext cx="3840480" cy="566928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7744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2 — Full Audit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98064" y="23774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C5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28,000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8328" y="3035808"/>
            <a:ext cx="3840480" cy="566928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3580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3 — Audit + Remediation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98064" y="303580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C5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58,000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" y="3694176"/>
            <a:ext cx="3840480" cy="566928"/>
          </a:xfrm>
          <a:prstGeom prst="rect">
            <a:avLst/>
          </a:prstGeom>
          <a:solidFill>
            <a:srgbClr val="10182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9417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Retainer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98064" y="369417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DC5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14,000/yr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34256" y="2340864"/>
            <a:ext cx="512064" cy="512064"/>
          </a:xfrm>
          <a:prstGeom prst="oval">
            <a:avLst/>
          </a:prstGeom>
          <a:solidFill>
            <a:srgbClr val="C89B3C"/>
          </a:solidFill>
          <a:ln/>
        </p:spPr>
      </p:sp>
      <p:sp>
        <p:nvSpPr>
          <p:cNvPr id="22" name="Text 20"/>
          <p:cNvSpPr/>
          <p:nvPr/>
        </p:nvSpPr>
        <p:spPr>
          <a:xfrm>
            <a:off x="4334256" y="23408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1152144"/>
            <a:ext cx="4005072" cy="3401568"/>
          </a:xfrm>
          <a:prstGeom prst="rect">
            <a:avLst/>
          </a:prstGeom>
          <a:solidFill>
            <a:srgbClr val="101826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1152144"/>
            <a:ext cx="4005072" cy="438912"/>
          </a:xfrm>
          <a:prstGeom prst="rect">
            <a:avLst/>
          </a:prstGeom>
          <a:solidFill>
            <a:srgbClr val="B82030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152144"/>
            <a:ext cx="4005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NON-COMPLIANCE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0" y="1719072"/>
            <a:ext cx="3822192" cy="566928"/>
          </a:xfrm>
          <a:prstGeom prst="rect">
            <a:avLst/>
          </a:prstGeom>
          <a:solidFill>
            <a:srgbClr val="1A0808"/>
          </a:solidFill>
          <a:ln/>
        </p:spPr>
      </p:sp>
      <p:sp>
        <p:nvSpPr>
          <p:cNvPr id="27" name="Text 25"/>
          <p:cNvSpPr/>
          <p:nvPr/>
        </p:nvSpPr>
        <p:spPr>
          <a:xfrm>
            <a:off x="5157216" y="17190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regulatory fine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88352" y="1719072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5,000,000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2377440"/>
            <a:ext cx="3822192" cy="566928"/>
          </a:xfrm>
          <a:prstGeom prst="rect">
            <a:avLst/>
          </a:prstGeom>
          <a:solidFill>
            <a:srgbClr val="140606"/>
          </a:solidFill>
          <a:ln/>
        </p:spPr>
      </p:sp>
      <p:sp>
        <p:nvSpPr>
          <p:cNvPr id="30" name="Text 28"/>
          <p:cNvSpPr/>
          <p:nvPr/>
        </p:nvSpPr>
        <p:spPr>
          <a:xfrm>
            <a:off x="5157216" y="23774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breach remediation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88352" y="2377440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890,000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3035808"/>
            <a:ext cx="3822192" cy="566928"/>
          </a:xfrm>
          <a:prstGeom prst="rect">
            <a:avLst/>
          </a:prstGeom>
          <a:solidFill>
            <a:srgbClr val="1A0808"/>
          </a:solidFill>
          <a:ln/>
        </p:spPr>
      </p:sp>
      <p:sp>
        <p:nvSpPr>
          <p:cNvPr id="33" name="Text 31"/>
          <p:cNvSpPr/>
          <p:nvPr/>
        </p:nvSpPr>
        <p:spPr>
          <a:xfrm>
            <a:off x="5157216" y="303580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after breach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88352" y="3035808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30%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3694176"/>
            <a:ext cx="3822192" cy="566928"/>
          </a:xfrm>
          <a:prstGeom prst="rect">
            <a:avLst/>
          </a:prstGeom>
          <a:solidFill>
            <a:srgbClr val="140606"/>
          </a:solidFill>
          <a:ln/>
        </p:spPr>
      </p:sp>
      <p:sp>
        <p:nvSpPr>
          <p:cNvPr id="36" name="Text 34"/>
          <p:cNvSpPr/>
          <p:nvPr/>
        </p:nvSpPr>
        <p:spPr>
          <a:xfrm>
            <a:off x="5157216" y="369417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damage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88352" y="3694176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2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Unquantifiable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6888" y="4663440"/>
            <a:ext cx="8705088" cy="347472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4663440"/>
            <a:ext cx="8558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2 at AED 28,000 = just 0.56% of the maximum potential fine — one of the highest-ROI decisions a UAE SME can make.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40609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773168"/>
            <a:ext cx="6400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Cyber Defence  ·  UAE Data Protection Compliance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83680" y="4773168"/>
            <a:ext cx="237744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D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jupitercyberdefence.com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0C1530">
              <a:alpha val="5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050A8">
              <a:alpha val="5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" y="0"/>
            <a:ext cx="64008" cy="5143500"/>
          </a:xfrm>
          <a:prstGeom prst="rect">
            <a:avLst/>
          </a:prstGeom>
          <a:solidFill>
            <a:srgbClr val="1A6E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822960"/>
            <a:ext cx="192024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56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D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594360"/>
            <a:ext cx="5943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your UAE compliance</a:t>
            </a:r>
            <a:endParaRPr lang="en-US" sz="3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journey today.</a:t>
            </a:r>
            <a:endParaRPr lang="en-US" sz="3300" dirty="0"/>
          </a:p>
        </p:txBody>
      </p:sp>
      <p:sp>
        <p:nvSpPr>
          <p:cNvPr id="9" name="Shape 6"/>
          <p:cNvSpPr/>
          <p:nvPr/>
        </p:nvSpPr>
        <p:spPr>
          <a:xfrm>
            <a:off x="274320" y="1783080"/>
            <a:ext cx="1645920" cy="45720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048256"/>
            <a:ext cx="384048" cy="384048"/>
          </a:xfrm>
          <a:prstGeom prst="oval">
            <a:avLst/>
          </a:prstGeom>
          <a:solidFill>
            <a:srgbClr val="0D8A9A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2048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8096" y="19568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30-min discovery call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8096" y="223113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assess your UAE compliance situation at no cost and determine the right package.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706624"/>
            <a:ext cx="384048" cy="384048"/>
          </a:xfrm>
          <a:prstGeom prst="oval">
            <a:avLst/>
          </a:prstGeom>
          <a:solidFill>
            <a:srgbClr val="0D8A9A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2706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68096" y="26151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Fixed-price proposal within 48 hours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68096" y="288950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AED price — no hourly billing, no surprises, no hidden costs.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3364992"/>
            <a:ext cx="384048" cy="384048"/>
          </a:xfrm>
          <a:prstGeom prst="oval">
            <a:avLst/>
          </a:prstGeom>
          <a:solidFill>
            <a:srgbClr val="0D8A9A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" y="32735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Fieldwork begins within one week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68096" y="3547872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disruption. We work around your team's schedule.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4023360"/>
            <a:ext cx="384048" cy="384048"/>
          </a:xfrm>
          <a:prstGeom prst="oval">
            <a:avLst/>
          </a:prstGeom>
          <a:solidFill>
            <a:srgbClr val="0D8A9A"/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68096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your audit report + roadmap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68096" y="420624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prioritised action plan your team can act on immediately.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74320" y="4590288"/>
            <a:ext cx="5760720" cy="438912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27" name="Shape 24"/>
          <p:cNvSpPr/>
          <p:nvPr/>
        </p:nvSpPr>
        <p:spPr>
          <a:xfrm>
            <a:off x="274320" y="4590288"/>
            <a:ext cx="36576" cy="438912"/>
          </a:xfrm>
          <a:prstGeom prst="rect">
            <a:avLst/>
          </a:prstGeom>
          <a:solidFill>
            <a:srgbClr val="0D8A9A"/>
          </a:solidFill>
          <a:ln/>
        </p:spPr>
      </p:sp>
      <p:sp>
        <p:nvSpPr>
          <p:cNvPr id="28" name="Text 25"/>
          <p:cNvSpPr/>
          <p:nvPr/>
        </p:nvSpPr>
        <p:spPr>
          <a:xfrm>
            <a:off x="384048" y="4590288"/>
            <a:ext cx="5632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info@jupitercyberdefence.com  ·  jupitercyberdefence.com  ·  linkedin.com/company/jupiter-cyber-defence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Jupiter Cyber Defence — UAE PDPL Compliance</dc:title>
  <dc:subject>PptxGenJS Presentation</dc:subject>
  <dc:creator>PptxGenJS</dc:creator>
  <cp:lastModifiedBy>PptxGenJS</cp:lastModifiedBy>
  <cp:revision>1</cp:revision>
  <dcterms:created xsi:type="dcterms:W3CDTF">2026-03-12T14:35:28Z</dcterms:created>
  <dcterms:modified xsi:type="dcterms:W3CDTF">2026-03-12T14:35:28Z</dcterms:modified>
</cp:coreProperties>
</file>